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NIRIKSHAK (निरीक्षक)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AI-Powered Automated Legal Metrology Inspection &amp; Compliance Enforcement 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Problem Statement ID: </a:t>
            </a:r>
            <a:r>
              <a:rPr sz="1100" b="1">
                <a:solidFill>
                  <a:srgbClr val="F59E0B"/>
                </a:solidFill>
                <a:latin typeface="Calibri"/>
              </a:rPr>
              <a:t>SIH26034</a:t>
            </a:r>
            <a:endParaRPr lang="en-US" dirty="0"/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Problem Statement Title: </a:t>
            </a:r>
            <a:r>
              <a:rPr sz="1100" b="0">
                <a:solidFill>
                  <a:srgbClr val="1E293B"/>
                </a:solidFill>
                <a:latin typeface="Calibri"/>
              </a:rPr>
              <a:t>Software System to check compliance of Packaged Commodities under Legal Metrology (Packaged Commodities) Rules, 2011 by scanning products, images and labels.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Theme: </a:t>
            </a:r>
            <a:r>
              <a:rPr sz="1100" b="0">
                <a:solidFill>
                  <a:srgbClr val="1E293B"/>
                </a:solidFill>
                <a:latin typeface="Calibri"/>
              </a:rPr>
              <a:t>Agriculture, FoodTech &amp; Rural Development (Smart Metrology &amp; Consumer Welfare)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PS Category: </a:t>
            </a:r>
            <a:r>
              <a:rPr sz="110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Team ID: </a:t>
            </a:r>
            <a:r>
              <a:rPr sz="1100" b="1">
                <a:solidFill>
                  <a:srgbClr val="F59E0B"/>
                </a:solidFill>
                <a:latin typeface="Calibri"/>
              </a:rPr>
              <a:t>92770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Team Name: </a:t>
            </a:r>
            <a:r>
              <a:rPr sz="1100" b="1">
                <a:solidFill>
                  <a:srgbClr val="1D4ED8"/>
                </a:solidFill>
                <a:latin typeface="Calibri"/>
              </a:rPr>
              <a:t>NIRIKSHAK (404 The Optimists)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Statutory Authority: </a:t>
            </a:r>
            <a:r>
              <a:rPr sz="1100" b="0">
                <a:solidFill>
                  <a:srgbClr val="1E293B"/>
                </a:solidFill>
                <a:latin typeface="Calibri"/>
              </a:rPr>
              <a:t>Ministry of Consumer Affairs, Food &amp; Public Distribution | Department of Consumer Affairs (DoCA), Govt. of India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Arial"/>
              </a:rPr>
              <a:t>Core Engineering Team: </a:t>
            </a:r>
            <a:r>
              <a:rPr sz="1100" b="0">
                <a:solidFill>
                  <a:srgbClr val="334155"/>
                </a:solidFill>
                <a:latin typeface="Calibri"/>
              </a:rPr>
              <a:t>Kunal Raj (Lead, CV &amp; Metrology) • Parmarth Kumar (DL/OCR) • Harsh Patel (NLP) • Ambika Bansal (Statutory Rules) • Shailendra Pratap Singh (Platform/Crypto) • Urvashi Rajput (Web UX)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8800" y="109728"/>
            <a:ext cx="7818120" cy="777240"/>
          </a:xfrm>
        </p:spPr>
        <p:txBody>
          <a:bodyPr/>
          <a:lstStyle/>
          <a:p>
            <a:pPr eaLnBrk="1" hangingPunct="1"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NIRIKSHAK: AUGMENTED METROLOGY INTELLIGENCE SYSTEM</a:t>
            </a:r>
          </a:p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AUTOMATED STATUTORY COMPLIANCE FOR PACKAGED COMMODITIES UNDER PCR 2011 &amp; BSA 2023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3716000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47472" y="182880"/>
            <a:ext cx="1353312" cy="6400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411480" y="1078992"/>
            <a:ext cx="3383280" cy="5138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l">
              <a:spcAft>
                <a:spcPts val="3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ENFORCEMENT CRISIS IN INDIA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Scale Asymmetry: </a:t>
            </a:r>
            <a:r>
              <a:rPr sz="1000" b="0">
                <a:solidFill>
                  <a:srgbClr val="E2E8F0"/>
                </a:solidFill>
                <a:latin typeface="Calibri"/>
              </a:rPr>
              <a:t>1.2 Crore+ retail shops and godowns vs ~3,000 Legal Metrology Officers nationwide. Less than 0.1% market commodities are ever inspected.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Manual Friction: </a:t>
            </a:r>
            <a:r>
              <a:rPr sz="1000" b="0">
                <a:solidFill>
                  <a:srgbClr val="E2E8F0"/>
                </a:solidFill>
                <a:latin typeface="Calibri"/>
              </a:rPr>
              <a:t>Manual Vernier calipers and physical magnifiers take 20-25 minutes per package. Officers are bottlenecked at 15-20 packages/day.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EF4444"/>
                </a:solidFill>
                <a:latin typeface="Arial"/>
              </a:rPr>
              <a:t>Courtroom Evidentiary Void: </a:t>
            </a:r>
            <a:r>
              <a:rPr sz="1000" b="0">
                <a:solidFill>
                  <a:srgbClr val="E2E8F0"/>
                </a:solidFill>
                <a:latin typeface="Calibri"/>
              </a:rPr>
              <a:t>Section 65B of Indian Evidence Act repealed on 1 July 2024. Unverified smartphone photos fail Section 63 Bharatiya Sakshya Adhiniyam (BSA 2023) admissibility, causing high dismissal rates.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Revenue Leakage: </a:t>
            </a:r>
            <a:r>
              <a:rPr sz="1000" b="0">
                <a:solidFill>
                  <a:srgbClr val="E2E8F0"/>
                </a:solidFill>
                <a:latin typeface="Calibri"/>
              </a:rPr>
              <a:t>Unchecked non-standard units (gms, ml.), omitted MRP tax clauses, and deceptive Unit Sale Prices cause consumer detriment and ₹150+ Cr state revenue loss.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931920" y="1078992"/>
            <a:ext cx="4709160" cy="5138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l">
              <a:spcAft>
                <a:spcPts val="3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PROPOSED SOLUTION &amp; CORE INNOVATION</a:t>
            </a:r>
          </a:p>
          <a:p>
            <a:pPr>
              <a:spcAft>
                <a:spcPts val="500"/>
              </a:spcAft>
              <a:defRPr sz="1050" b="1">
                <a:solidFill>
                  <a:srgbClr val="F59E0B"/>
                </a:solidFill>
                <a:latin typeface="Arial"/>
              </a:defRPr>
            </a:pPr>
            <a:r>
              <a:t>★ CORE PRINCIPLE: "AI Observes, Rules Verify, Human Decides"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Sub-Millimeter Vision Calibration: </a:t>
            </a:r>
            <a:r>
              <a:rPr sz="950" b="0">
                <a:solidFill>
                  <a:srgbClr val="E2E8F0"/>
                </a:solidFill>
                <a:latin typeface="Calibri"/>
              </a:rPr>
              <a:t>Planar Homography matrix (H) unwarps angled packaging photos using standard reference cards/coins, achieving ±0.08mm font height precision.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Zero-Hallucination AST Engine: </a:t>
            </a:r>
            <a:r>
              <a:rPr sz="950" b="0">
                <a:solidFill>
                  <a:srgbClr val="E2E8F0"/>
                </a:solidFill>
                <a:latin typeface="Calibri"/>
              </a:rPr>
              <a:t>Evaluates 100% deterministic mathematical rules codified directly from Gazette notifications (Table-I, Rule 6, Rule 12, GSR 629(E)). Zero LLM hallucination.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3D Cross-Facet Semantic Fusion: </a:t>
            </a:r>
            <a:r>
              <a:rPr sz="950" b="0">
                <a:solidFill>
                  <a:srgbClr val="E2E8F0"/>
                </a:solidFill>
                <a:latin typeface="Calibri"/>
              </a:rPr>
              <a:t>Assembles multi-surface burst captures (Front, Back, Sides) into one unified inspection case with permanent source-image panel attribution.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Court-Admissible BSA Dossier: </a:t>
            </a:r>
            <a:r>
              <a:rPr sz="950" b="0">
                <a:solidFill>
                  <a:srgbClr val="E2E8F0"/>
                </a:solidFill>
                <a:latin typeface="Calibri"/>
              </a:rPr>
              <a:t>Chains all pipeline stages into a SHA-256 Merkle DAG, issuing legally unassailable Section 63 BSA 2023 Digital Certificates with verification QR codes.</a:t>
            </a:r>
          </a:p>
        </p:txBody>
      </p:sp>
      <p:pic>
        <p:nvPicPr>
          <p:cNvPr id="15365" name="Picture 15364" descr="02_pipelin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4434840"/>
            <a:ext cx="4434840" cy="1645920"/>
          </a:xfrm>
          <a:prstGeom prst="rect">
            <a:avLst/>
          </a:prstGeom>
        </p:spPr>
      </p:pic>
      <p:sp>
        <p:nvSpPr>
          <p:cNvPr id="15366" name="Rounded Rectangle 15365"/>
          <p:cNvSpPr/>
          <p:nvPr/>
        </p:nvSpPr>
        <p:spPr>
          <a:xfrm>
            <a:off x="8778240" y="1078992"/>
            <a:ext cx="3017520" cy="51389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l">
              <a:spcAft>
                <a:spcPts val="3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WHY NIRIKSHAK WINS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❌ Manual Vernier Calipers </a:t>
            </a:r>
            <a:r>
              <a:rPr sz="950" b="0">
                <a:solidFill>
                  <a:srgbClr val="E2E8F0"/>
                </a:solidFill>
                <a:latin typeface="Calibri"/>
              </a:rPr>
              <a:t>➜ ✔ Planar Homography (±0.08mm)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❌ Generative LLM Guessing </a:t>
            </a:r>
            <a:r>
              <a:rPr sz="950" b="0">
                <a:solidFill>
                  <a:srgbClr val="E2E8F0"/>
                </a:solidFill>
                <a:latin typeface="Calibri"/>
              </a:rPr>
              <a:t>➜ ✔ Deterministic Statutory AST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❌ Courtroom Case Dismissals </a:t>
            </a:r>
            <a:r>
              <a:rPr sz="950" b="0">
                <a:solidFill>
                  <a:srgbClr val="E2E8F0"/>
                </a:solidFill>
                <a:latin typeface="Calibri"/>
              </a:rPr>
              <a:t>➜ ✔ Sec. 63 BSA 2023 Merkle DAG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❌ Blanket Fines / Harassment </a:t>
            </a:r>
            <a:r>
              <a:rPr sz="950" b="0">
                <a:solidFill>
                  <a:srgbClr val="E2E8F0"/>
                </a:solidFill>
                <a:latin typeface="Calibri"/>
              </a:rPr>
              <a:t>➜ ✔ Jan Vishwas 15-Day ₹0 Notice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❌ Fragile Cloud Dependency </a:t>
            </a:r>
            <a:r>
              <a:rPr sz="950" b="0">
                <a:solidFill>
                  <a:srgbClr val="E2E8F0"/>
                </a:solidFill>
                <a:latin typeface="Calibri"/>
              </a:rPr>
              <a:t>➜ ✔ Resilient Offline Field Engine</a:t>
            </a:r>
          </a:p>
          <a:p>
            <a:pPr>
              <a:spcAft>
                <a:spcPts val="300"/>
              </a:spcAft>
              <a:defRPr sz="1050" b="1">
                <a:solidFill>
                  <a:srgbClr val="F59E0B"/>
                </a:solidFill>
                <a:latin typeface="Arial"/>
              </a:defRPr>
            </a:pPr>
            <a:r>
              <a:t>⚡ 5-Second Full Inspection (&lt; 30s E2E)</a:t>
            </a:r>
          </a:p>
          <a:p>
            <a:pPr>
              <a:spcAft>
                <a:spcPts val="300"/>
              </a:spcAft>
              <a:defRPr sz="1050" b="1">
                <a:solidFill>
                  <a:srgbClr val="38BDF8"/>
                </a:solidFill>
                <a:latin typeface="Arial"/>
              </a:defRPr>
            </a:pPr>
            <a:r>
              <a:t>💻 Zero-GPU INT8 CPU Execution</a:t>
            </a:r>
          </a:p>
          <a:p>
            <a:pPr>
              <a:defRPr sz="1050" b="1">
                <a:solidFill>
                  <a:srgbClr val="10B981"/>
                </a:solidFill>
                <a:latin typeface="Arial"/>
              </a:defRPr>
            </a:pPr>
            <a:r>
              <a:t>📜 Form-1 PDF/A Statutory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09728"/>
            <a:ext cx="7818120" cy="777240"/>
          </a:xfrm>
        </p:spPr>
        <p:txBody>
          <a:bodyPr/>
          <a:lstStyle/>
          <a:p>
            <a:pPr eaLnBrk="1" hangingPunct="1"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TECHNICAL APPROACH &amp; SYSTEM ARCHITECTURE</a:t>
            </a:r>
          </a:p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12-STAGE STATUTORY VERIFICATION PIPELINE &amp; DUAL-ENGINE TOPOLOGY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160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47472" y="182880"/>
            <a:ext cx="1353312" cy="6400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2_pipelin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78992"/>
            <a:ext cx="11384280" cy="2029968"/>
          </a:xfrm>
          <a:prstGeom prst="rect">
            <a:avLst/>
          </a:prstGeom>
        </p:spPr>
      </p:pic>
      <p:pic>
        <p:nvPicPr>
          <p:cNvPr id="17412" name="Picture 17411" descr="05_system_mo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18688"/>
            <a:ext cx="5943600" cy="2999232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492240" y="3218688"/>
            <a:ext cx="5303520" cy="299923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300"/>
              </a:spcAft>
              <a:defRPr sz="1250" b="1">
                <a:solidFill>
                  <a:srgbClr val="38BDF8"/>
                </a:solidFill>
                <a:latin typeface="Arial"/>
              </a:defRPr>
            </a:pPr>
            <a:r>
              <a:t>ENGINEERING STACK &amp; ARCHITECTURAL DECISIONS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Computer Vision &amp; Optics: </a:t>
            </a:r>
            <a:r>
              <a:rPr sz="950" b="0">
                <a:solidFill>
                  <a:srgbClr val="E2E8F0"/>
                </a:solidFill>
                <a:latin typeface="Calibri"/>
              </a:rPr>
              <a:t>OpenCV 4.10, Planar Homography (3×3 matrix H), ArUco DICT_4X4_50, ISO 7810 ID-1 card (85.60×53.98mm), Connected Components Analysis (CCA) for font height.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Deep Learning &amp; OCR: </a:t>
            </a:r>
            <a:r>
              <a:rPr sz="950" b="0">
                <a:solidFill>
                  <a:srgbClr val="E2E8F0"/>
                </a:solidFill>
                <a:latin typeface="Calibri"/>
              </a:rPr>
              <a:t>DBNet++ polygon detector (Apache-2.0, ADL-05) + PaddleOCR PP-OCRv4 (Latin &amp; Devanagari Hindi) INT8 ONNX. 180° flip probe on conf &lt; 0.92; Tesseract v5 fallback.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Backend &amp; Evidentiary Ledger: </a:t>
            </a:r>
            <a:r>
              <a:rPr sz="950" b="0">
                <a:solidFill>
                  <a:srgbClr val="E2E8F0"/>
                </a:solidFill>
                <a:latin typeface="Calibri"/>
              </a:rPr>
              <a:t>Python 3.12, FastAPI async REST API, PostgreSQL 16+ (central) &amp; SQLite 3.45+ SQLCipher (offline), In-Memory SHA-256 Merkle DAG, ReportLab ISO 19005-1 PDF/A generator.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Web Workstation &amp; Adjudication UX: </a:t>
            </a:r>
            <a:r>
              <a:rPr sz="950" b="0">
                <a:solidFill>
                  <a:srgbClr val="E2E8F0"/>
                </a:solidFill>
                <a:latin typeface="Calibri"/>
              </a:rPr>
              <a:t>React 18/19 SPA, Vite, Tailwind CSS, HTML5 Canvas 2.5× loupe, millimeter grid overlay, mandatory written officer override justification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09728"/>
            <a:ext cx="7818120" cy="777240"/>
          </a:xfrm>
        </p:spPr>
        <p:txBody>
          <a:bodyPr/>
          <a:lstStyle/>
          <a:p>
            <a:pPr eaLnBrk="1" hangingPunct="1"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FEASIBILITY, VIABILITY &amp; STATUTORY FAIRNESS</a:t>
            </a:r>
          </a:p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ZERO-GPU EDGE RUNTIME, JAN VISHWAS COMPLIANCE &amp; BSA 2023 ADMISSIBILITY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16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47472" y="182880"/>
            <a:ext cx="1353312" cy="6400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078992"/>
            <a:ext cx="3639312" cy="3154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Aft>
                <a:spcPts val="300"/>
              </a:spcAft>
              <a:defRPr sz="1250" b="1">
                <a:solidFill>
                  <a:srgbClr val="38BDF8"/>
                </a:solidFill>
                <a:latin typeface="Arial"/>
              </a:defRPr>
            </a:pPr>
            <a:r>
              <a:t>1. FEASIBILITY ANALYSIS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Zero-GPU Edge Barrier: </a:t>
            </a:r>
            <a:r>
              <a:rPr sz="950" b="0">
                <a:solidFill>
                  <a:srgbClr val="E2E8F0"/>
                </a:solidFill>
                <a:latin typeface="Calibri"/>
              </a:rPr>
              <a:t>INT8 quantization shrinks models from 120MB to 28MB. Full inference runs in 180ms on standard Intel i5/i3 CPU laptops or ₹10k Android phones without dedicated GPUs.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Universal Reference Standards: </a:t>
            </a:r>
            <a:r>
              <a:rPr sz="950" b="0">
                <a:solidFill>
                  <a:srgbClr val="E2E8F0"/>
                </a:solidFill>
                <a:latin typeface="Calibri"/>
              </a:rPr>
              <a:t>Requires zero special laboratory hardware. Works with standard bank/Aadhaar/DL cards (85.60×53.98mm) or standard ₹5 coins (23mm).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100% Offline Mandi Resiliency: </a:t>
            </a:r>
            <a:r>
              <a:rPr sz="950" b="0">
                <a:solidFill>
                  <a:srgbClr val="E2E8F0"/>
                </a:solidFill>
                <a:latin typeface="Calibri"/>
              </a:rPr>
              <a:t>Mode B operates with 0 bytes network required. Secure local SQLite SQLCipher commits inspection state in basement godowns and rural haats.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Low Bandwidth Footprint: </a:t>
            </a:r>
            <a:r>
              <a:rPr sz="950" b="0">
                <a:solidFill>
                  <a:srgbClr val="E2E8F0"/>
                </a:solidFill>
                <a:latin typeface="Calibri"/>
              </a:rPr>
              <a:t>Complete inspection package is &lt; 500 KB, syncing effortlessly over 2G/3G connections when field officers return to network range.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9392" y="1078992"/>
            <a:ext cx="3639312" cy="3154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Aft>
                <a:spcPts val="300"/>
              </a:spcAft>
              <a:defRPr sz="1250" b="1">
                <a:solidFill>
                  <a:srgbClr val="10B981"/>
                </a:solidFill>
                <a:latin typeface="Arial"/>
              </a:defRPr>
            </a:pPr>
            <a:r>
              <a:t>2. VIABILITY &amp; GOVERNANCE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Jan Vishwas 2023 Decriminalization: </a:t>
            </a:r>
            <a:r>
              <a:rPr sz="950" b="0">
                <a:solidFill>
                  <a:srgbClr val="E2E8F0"/>
                </a:solidFill>
                <a:latin typeface="Calibri"/>
              </a:rPr>
              <a:t>Implements Act No. 18 of 2023. Eliminates jail terms for technical packaging errors, establishing proportional civil administrative enforcement.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15-Day Improvement Notice (₹0): </a:t>
            </a:r>
            <a:r>
              <a:rPr sz="950" b="0">
                <a:solidFill>
                  <a:srgbClr val="E2E8F0"/>
                </a:solidFill>
                <a:latin typeface="Calibri"/>
              </a:rPr>
              <a:t>Minor procedural deficits (e.g. font 1.46mm vs 2.0mm) receive a 15-day cure notice with ₹0 compounding fee, protecting Ease of Doing Business.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EF4444"/>
                </a:solidFill>
                <a:latin typeface="Arial"/>
              </a:rPr>
              <a:t>Civil Compounding for Real Fraud: </a:t>
            </a:r>
            <a:r>
              <a:rPr sz="950" b="0">
                <a:solidFill>
                  <a:srgbClr val="E2E8F0"/>
                </a:solidFill>
                <a:latin typeface="Calibri"/>
              </a:rPr>
              <a:t>Deliberate omissions (banned units, missing MRP, missing consumer care) trigger Section 48 compounding notices up to ₹25,000 INR.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Quasi-Judicial Human Sovereignty: </a:t>
            </a:r>
            <a:r>
              <a:rPr sz="950" b="0">
                <a:solidFill>
                  <a:srgbClr val="E2E8F0"/>
                </a:solidFill>
                <a:latin typeface="Calibri"/>
              </a:rPr>
              <a:t>AI never acts as autonomous judge. Officer approval is strictly required; any override mandatorily records written justification remarks.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56448" y="1078992"/>
            <a:ext cx="3639312" cy="3154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l">
              <a:spcAft>
                <a:spcPts val="300"/>
              </a:spcAft>
              <a:defRPr sz="1250" b="1">
                <a:solidFill>
                  <a:srgbClr val="F59E0B"/>
                </a:solidFill>
                <a:latin typeface="Arial"/>
              </a:defRPr>
            </a:pPr>
            <a:r>
              <a:t>3. BUSINESS &amp; GOVT POTENTIAL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Government Operational Savings: </a:t>
            </a:r>
            <a:r>
              <a:rPr sz="950" b="0">
                <a:solidFill>
                  <a:srgbClr val="E2E8F0"/>
                </a:solidFill>
                <a:latin typeface="Calibri"/>
              </a:rPr>
              <a:t>Reduces inspection cycle time from 25 min to &lt; 2 min per package, saving over 1,200 officer man-hours annually per circle.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Revenue Leakage Recovery: </a:t>
            </a:r>
            <a:r>
              <a:rPr sz="950" b="0">
                <a:solidFill>
                  <a:srgbClr val="E2E8F0"/>
                </a:solidFill>
                <a:latin typeface="Calibri"/>
              </a:rPr>
              <a:t>Automates compounding fee tracking under Section 48, capturing an estimated ₹150+ Crore annually in uncollected penalties across states.</a:t>
            </a:r>
          </a:p>
          <a:p>
            <a:pPr>
              <a:spcAft>
                <a:spcPts val="5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Near-Zero Court Dismissals: </a:t>
            </a:r>
            <a:r>
              <a:rPr sz="950" b="0">
                <a:solidFill>
                  <a:srgbClr val="E2E8F0"/>
                </a:solidFill>
                <a:latin typeface="Calibri"/>
              </a:rPr>
              <a:t>Replaces repealed Section 65B with Section 63 BSA 2023 certificates. Cryptographic SHA-256 Merkle root guarantees 95%+ conviction rates.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Consumer Trust Empowerment: </a:t>
            </a:r>
            <a:r>
              <a:rPr sz="950" b="0">
                <a:solidFill>
                  <a:srgbClr val="E2E8F0"/>
                </a:solidFill>
                <a:latin typeface="Calibri"/>
              </a:rPr>
              <a:t>Protects consumers against deceptive packaging, hidden taxes, and short-weight claims while providing manufacturers a pre-compliance tool.</a:t>
            </a:r>
          </a:p>
        </p:txBody>
      </p:sp>
      <p:pic>
        <p:nvPicPr>
          <p:cNvPr id="17414" name="Picture 17413" descr="04_jan_vishwas_enfor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343400"/>
            <a:ext cx="11384280" cy="187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09728"/>
            <a:ext cx="7818120" cy="777240"/>
          </a:xfrm>
        </p:spPr>
        <p:txBody>
          <a:bodyPr/>
          <a:lstStyle/>
          <a:p>
            <a:pPr eaLnBrk="1" hangingPunct="1"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IMPACT, MULTI-STAKEHOLDER BENEFITS &amp; EMPIRICAL PROOF</a:t>
            </a:r>
          </a:p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QUANTIFIABLE NATIONAL METRICS &amp; 38-SKU PHYSICAL TEST BENCHMARK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160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47472" y="182880"/>
            <a:ext cx="1353312" cy="6400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06_impact_metr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78992"/>
            <a:ext cx="5440680" cy="365760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989320" y="1078992"/>
            <a:ext cx="580644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l">
              <a:spcAft>
                <a:spcPts val="3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EMPIRICAL GROUND-TRUTH BENCHMARK (38 REAL RUNS)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10B981"/>
                </a:solidFill>
                <a:latin typeface="Arial"/>
              </a:rPr>
              <a:t>1. Titan Fastrack Watch (13 photos): </a:t>
            </a:r>
            <a:r>
              <a:rPr sz="880" b="0">
                <a:solidFill>
                  <a:srgbClr val="E2E8F0"/>
                </a:solidFill>
                <a:latin typeface="Calibri"/>
              </a:rPr>
              <a:t>PASS (0 Fails) | Sanction: ₹0 Clean Cert. Net Qty 1 N, Origin: China. USP exempt under Rule 6(1)(da) 2nd proviso.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F59E0B"/>
                </a:solidFill>
                <a:latin typeface="Arial"/>
              </a:rPr>
              <a:t>2. Himalaya Brahmi 60 Tabs (13 photos): </a:t>
            </a:r>
            <a:r>
              <a:rPr sz="880" b="0">
                <a:solidFill>
                  <a:srgbClr val="E2E8F0"/>
                </a:solidFill>
                <a:latin typeface="Calibri"/>
              </a:rPr>
              <a:t>FAIL (1 Deficit) | 15-Day Improvement Notice (₹0). Batch font 1.46mm vs 2.0mm. Caliper Truth = 1.47mm (Error only 0.01mm!).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F59E0B"/>
                </a:solidFill>
                <a:latin typeface="Arial"/>
              </a:rPr>
              <a:t>3. Boult Audio TWS Earbuds (6 photos): </a:t>
            </a:r>
            <a:r>
              <a:rPr sz="880" b="0">
                <a:solidFill>
                  <a:srgbClr val="E2E8F0"/>
                </a:solidFill>
                <a:latin typeface="Calibri"/>
              </a:rPr>
              <a:t>FAIL (1 Deficit) | 15-Day Improvement Notice (₹0). Thermal sticker net qty font 1.24mm vs 2.0mm (Rule 6 Table-I deficit).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EF4444"/>
                </a:solidFill>
                <a:latin typeface="Arial"/>
              </a:rPr>
              <a:t>4. Gopi Baba Hair Oil (6 photos): </a:t>
            </a:r>
            <a:r>
              <a:rPr sz="880" b="0">
                <a:solidFill>
                  <a:srgbClr val="E2E8F0"/>
                </a:solidFill>
                <a:latin typeface="Calibri"/>
              </a:rPr>
              <a:t>FAIL (3 Violations) | ₹25,000 Civil Compounding. Banned unit '100ml.', missing tax clause, missing consumer email.</a:t>
            </a:r>
          </a:p>
        </p:txBody>
      </p:sp>
      <p:pic>
        <p:nvPicPr>
          <p:cNvPr id="17413" name="Picture 17412" descr="sku_01_titan_watch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30752"/>
            <a:ext cx="1234440" cy="896112"/>
          </a:xfrm>
          <a:prstGeom prst="rect">
            <a:avLst/>
          </a:prstGeom>
        </p:spPr>
      </p:pic>
      <p:pic>
        <p:nvPicPr>
          <p:cNvPr id="17414" name="Picture 17413" descr="sku_02_himalaya_brahm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3730752"/>
            <a:ext cx="1234440" cy="896112"/>
          </a:xfrm>
          <a:prstGeom prst="rect">
            <a:avLst/>
          </a:prstGeom>
        </p:spPr>
      </p:pic>
      <p:pic>
        <p:nvPicPr>
          <p:cNvPr id="17415" name="Picture 17414" descr="sku_03_boult_earbud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3730752"/>
            <a:ext cx="1234440" cy="896112"/>
          </a:xfrm>
          <a:prstGeom prst="rect">
            <a:avLst/>
          </a:prstGeom>
        </p:spPr>
      </p:pic>
      <p:pic>
        <p:nvPicPr>
          <p:cNvPr id="17416" name="Picture 17415" descr="sku_04_herbal_hair_oi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3730752"/>
            <a:ext cx="1234440" cy="896112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411480" y="4846320"/>
            <a:ext cx="113842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l">
              <a:spcAft>
                <a:spcPts val="300"/>
              </a:spcAft>
              <a:defRPr sz="1200" b="1">
                <a:solidFill>
                  <a:srgbClr val="F59E0B"/>
                </a:solidFill>
                <a:latin typeface="Arial"/>
              </a:defRPr>
            </a:pPr>
            <a:r>
              <a:t>BEFORE VS. AFTER: THE LEGAL METROLOGY INSPECTION TRANSFORMATION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Inspection Throughput: </a:t>
            </a:r>
            <a:r>
              <a:rPr sz="950" b="0">
                <a:solidFill>
                  <a:srgbClr val="E2E8F0"/>
                </a:solidFill>
                <a:latin typeface="Calibri"/>
              </a:rPr>
              <a:t>25 minutes manual caliper inspection  ➜  &lt; 2 minutes end-to-end with NIRIKSHAK (90% reduction in officer inspection time).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Measurement Standard: </a:t>
            </a:r>
            <a:r>
              <a:rPr sz="950" b="0">
                <a:solidFill>
                  <a:srgbClr val="E2E8F0"/>
                </a:solidFill>
                <a:latin typeface="Calibri"/>
              </a:rPr>
              <a:t>Subjective manual vernier calipers  ➜  Sub-millimeter Planar Homography with ISO 17025 expanded uncertainty budget (±0.08mm).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Legal Evidentiary Power: </a:t>
            </a:r>
            <a:r>
              <a:rPr sz="950" b="0">
                <a:solidFill>
                  <a:srgbClr val="E2E8F0"/>
                </a:solidFill>
                <a:latin typeface="Calibri"/>
              </a:rPr>
              <a:t>Uncalibrated phone photos dismissed under repealed Sec. 65B  ➜  Cryptographic Section 63 BSA 2023 Merkle DAG with QR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28800" y="109728"/>
            <a:ext cx="7818120" cy="777240"/>
          </a:xfrm>
        </p:spPr>
        <p:txBody>
          <a:bodyPr/>
          <a:lstStyle/>
          <a:p>
            <a:pPr eaLnBrk="1" hangingPunct="1" algn="ctr">
              <a:defRPr sz="1900" b="1">
                <a:solidFill>
                  <a:srgbClr val="0F172A"/>
                </a:solidFill>
                <a:latin typeface="Arial"/>
              </a:defRPr>
            </a:pPr>
            <a:r>
              <a:t>RESEARCH, STATUTORY REFERENCES &amp; LIVE PRODUCT</a:t>
            </a:r>
          </a:p>
          <a:p>
            <a:pPr algn="ctr">
              <a:defRPr sz="1100" b="1">
                <a:solidFill>
                  <a:srgbClr val="1D4ED8"/>
                </a:solidFill>
                <a:latin typeface="Calibri"/>
              </a:defRPr>
            </a:pPr>
            <a:r>
              <a:t>CODIFIED STATUTES, SCIENTIFIC LITERATURE &amp; LIVE PRODUCTION WORKSTATION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7160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47472" y="182880"/>
            <a:ext cx="1353312" cy="6400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92770</a:t>
            </a:r>
            <a:endParaRPr lang="en-IN" dirty="0"/>
          </a:p>
          <a:p>
            <a:pPr algn="ctr">
              <a:defRPr sz="1000" b="1">
                <a:solidFill>
                  <a:srgbClr val="F59E0B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078992"/>
            <a:ext cx="11384280" cy="1965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spcAft>
                <a:spcPts val="3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STATUTORY FOUNDATION &amp; SCIENTIFIC LITERATURE CITATIONS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The Legal Metrology Act, 2009 &amp; PCR 2011: </a:t>
            </a:r>
            <a:r>
              <a:rPr sz="950" b="0">
                <a:solidFill>
                  <a:srgbClr val="E2E8F0"/>
                </a:solidFill>
                <a:latin typeface="Calibri"/>
              </a:rPr>
              <a:t>Enforces Sections 11, 18, 36, 48 and Rules 6(1)(a)-(p), 7, 9 (Table-I font schedule), and 12 (prohibited non-SI units).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G.S.R. 629(E) (2021) &amp; Jan Vishwas Act, 2023: </a:t>
            </a:r>
            <a:r>
              <a:rPr sz="950" b="0">
                <a:solidFill>
                  <a:srgbClr val="E2E8F0"/>
                </a:solidFill>
                <a:latin typeface="Calibri"/>
              </a:rPr>
              <a:t>Codifies Unit Sale Price (USP) arithmetic (|Δ| ≤ ₹0.02) and Act No. 18 of 2023 decriminalization of Section 36(1) with 15-day cure notices.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Arial"/>
              </a:rPr>
              <a:t>Section 63 Bharatiya Sakshya Adhiniyam, 2023: </a:t>
            </a:r>
            <a:r>
              <a:rPr sz="950" b="0">
                <a:solidFill>
                  <a:srgbClr val="E2E8F0"/>
                </a:solidFill>
                <a:latin typeface="Calibri"/>
              </a:rPr>
              <a:t>Replaced Section 65B Indian Evidence Act on 1 July 2024. Mandates device telemetry, monotonic clock, and SHA-256 hash custody.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Computer Vision &amp; OCR Research: </a:t>
            </a:r>
            <a:r>
              <a:rPr sz="950" b="0">
                <a:solidFill>
                  <a:srgbClr val="E2E8F0"/>
                </a:solidFill>
                <a:latin typeface="Calibri"/>
              </a:rPr>
              <a:t>DBNet++ (Liao et al., IEEE TPAMI 2022) for real-time text polygon detection; PaddleOCR PP-OCRv4 (Du et al., 2023) lightweight SVTR text recognizer.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ISO/IEC 17025 &amp; JCGM 100:2008 (GUM): </a:t>
            </a:r>
            <a:r>
              <a:rPr sz="950" b="0">
                <a:solidFill>
                  <a:srgbClr val="E2E8F0"/>
                </a:solidFill>
                <a:latin typeface="Calibri"/>
              </a:rPr>
              <a:t>Standard metrological uncertainty budget (U95 = 2.0 · uc) ensuring optical font measurements withstand strict courtroom cross-examination.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3182112"/>
            <a:ext cx="3639312" cy="3035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84632" y="3255264"/>
            <a:ext cx="3493008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Executive Inspection Control Centre</a:t>
            </a:r>
          </a:p>
        </p:txBody>
      </p:sp>
      <p:pic>
        <p:nvPicPr>
          <p:cNvPr id="17414" name="Picture 17413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9584"/>
            <a:ext cx="3456432" cy="2029968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484632" y="5632704"/>
            <a:ext cx="3493008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Circle DL-SOUTH-01 live stats, active statutory directives &amp; case search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79392" y="3182112"/>
            <a:ext cx="3639312" cy="3035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352544" y="3255264"/>
            <a:ext cx="3493008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Quasi-Judicial Adjudication Desk</a:t>
            </a:r>
          </a:p>
        </p:txBody>
      </p:sp>
      <p:pic>
        <p:nvPicPr>
          <p:cNvPr id="17418" name="Picture 17417" descr="case_details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529584"/>
            <a:ext cx="3456432" cy="2029968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4352544" y="5632704"/>
            <a:ext cx="3493008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Interactive 2.5x loupe HUD, mm grid overlay &amp; mandatory override logs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47304" y="3182112"/>
            <a:ext cx="3639312" cy="303580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220456" y="3255264"/>
            <a:ext cx="3493008" cy="2560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  <a:latin typeface="Arial"/>
              </a:defRPr>
            </a:pPr>
            <a:r>
              <a:t>Form-1 Notice &amp; BSA 2023 Vault</a:t>
            </a:r>
          </a:p>
        </p:txBody>
      </p:sp>
      <p:pic>
        <p:nvPicPr>
          <p:cNvPr id="17422" name="Picture 17421" descr="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3529584"/>
            <a:ext cx="3456432" cy="2029968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8220456" y="5632704"/>
            <a:ext cx="3493008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Cryptographic SHA-256 Merkle root &amp; Sec. 63 BSA Digital Certificate PDF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