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3000" b="1">
                <a:solidFill>
                  <a:srgbClr val="D97706"/>
                </a:solidFill>
                <a:latin typeface="Arial"/>
              </a:defRPr>
            </a:pPr>
            <a:r>
              <a:t>NIRIKSHAK (निरीक्षक)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Automated Legal Metrology Verification &amp; Evidentiary Vault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Problem Statement ID — </a:t>
            </a:r>
            <a:r>
              <a:rPr sz="1050" b="1">
                <a:solidFill>
                  <a:srgbClr val="D97706"/>
                </a:solidFill>
                <a:latin typeface="Calibri"/>
              </a:rPr>
              <a:t>SIH26034</a:t>
            </a:r>
            <a:endParaRPr lang="en-US" dirty="0"/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Problem Statement Title — </a:t>
            </a:r>
            <a:r>
              <a:rPr sz="1050" b="0">
                <a:solidFill>
                  <a:srgbClr val="0F172A"/>
                </a:solidFill>
                <a:latin typeface="Calibri"/>
              </a:rPr>
              <a:t>AI/ML Powered Automated Verification of Declarations on Pre-packaged Commodities (Legal Metrology Act, 2009 &amp; PCR 2011)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Statutory Authority — </a:t>
            </a:r>
            <a:r>
              <a:rPr sz="1050" b="0">
                <a:solidFill>
                  <a:srgbClr val="0F172A"/>
                </a:solidFill>
                <a:latin typeface="Calibri"/>
              </a:rPr>
              <a:t>Ministry of Consumer Affairs, Food &amp; Public Distribution | Department of Consumer Affairs (DoCA)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Theme — </a:t>
            </a:r>
            <a:r>
              <a:rPr sz="1050" b="0">
                <a:solidFill>
                  <a:srgbClr val="0F172A"/>
                </a:solidFill>
                <a:latin typeface="Calibri"/>
              </a:rPr>
              <a:t>Smart Automation / Citizen Welfare / Ease of Doing Business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PS Category — </a:t>
            </a:r>
            <a:r>
              <a:rPr sz="1050" b="0">
                <a:solidFill>
                  <a:srgbClr val="0F172A"/>
                </a:solidFill>
                <a:latin typeface="Calibri"/>
              </a:rPr>
              <a:t>Software (with Edge/IoT Hardware-Agnostic Optical Integration)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Team ID — </a:t>
            </a:r>
            <a:r>
              <a:rPr sz="1050" b="1">
                <a:solidFill>
                  <a:srgbClr val="D97706"/>
                </a:solidFill>
                <a:latin typeface="Calibri"/>
              </a:rPr>
              <a:t>92770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Team Name — </a:t>
            </a:r>
            <a:r>
              <a:rPr sz="1050" b="1">
                <a:solidFill>
                  <a:srgbClr val="0284C7"/>
                </a:solidFill>
                <a:latin typeface="Calibri"/>
              </a:rPr>
              <a:t>NIRIKSHAK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Core Engineering Team — </a:t>
            </a:r>
            <a:r>
              <a:rPr sz="1050" b="0">
                <a:solidFill>
                  <a:srgbClr val="64748B"/>
                </a:solidFill>
                <a:latin typeface="Calibri"/>
              </a:rPr>
              <a:t>Kunal Raj (Lead, CV &amp; Metrology) • Parmarth Kumar (DL/OCR) • Harsh Patel (NLP) • Ambika Bansal (Statutory Rules) • Shailendra Pratap Singh (Platform/Crypto) • Urvashi Rajput (Web UX)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74519" y="109728"/>
            <a:ext cx="7772400" cy="749808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NIRIKSHAK: Sub-mm Legal Metrology Vision Intelligence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REVOLUTIONIZING STATUTORY COMPLIANCE UNDER PCR 2011 &amp; SECTION 63 BSA 2023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84048" y="146304"/>
            <a:ext cx="1371600" cy="65836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NIRIKSHAK</a:t>
            </a:r>
          </a:p>
        </p:txBody>
      </p:sp>
      <p:sp>
        <p:nvSpPr>
          <p:cNvPr id="15362" name="Rounded Rectangle 15361"/>
          <p:cNvSpPr/>
          <p:nvPr/>
        </p:nvSpPr>
        <p:spPr>
          <a:xfrm>
            <a:off x="411480" y="1051560"/>
            <a:ext cx="2926080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300"/>
              </a:spcAft>
              <a:defRPr sz="1150" b="1">
                <a:solidFill>
                  <a:srgbClr val="DC2626"/>
                </a:solidFill>
                <a:latin typeface="Arial"/>
              </a:defRPr>
            </a:pPr>
            <a:r>
              <a:t>⚠️ Real-world Issue: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1.2 Cr+ retail establishments vs ~3,000 officers. Sub-mm font deficits &amp; unit violations are invisible to the naked eye. Manual calipers take 20-25 mins per package with subjective parallax error.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2542032"/>
            <a:ext cx="2926080" cy="13716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Arial"/>
              </a:defRPr>
            </a:pPr>
            <a:r>
              <a:t>📈 Why important: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Over ₹150+ Cr lost annually in non-compliant packaging. Deceptive Unit Sale Pricing exploits consumers. Unverified photos fail Section 63 BSA 2023, causing high courtroom case dismissals.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4023360"/>
            <a:ext cx="292608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300"/>
              </a:spcAft>
              <a:defRPr sz="1150" b="1">
                <a:solidFill>
                  <a:srgbClr val="059669"/>
                </a:solidFill>
                <a:latin typeface="Arial"/>
              </a:defRPr>
            </a:pPr>
            <a:r>
              <a:t>💡 Solution: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Planar homography calibration (±0.08mm) + deterministic statutory AST engine + SHA-256 Merkle chain dossier + 15-day ₹0 Jan Vishwas notice to balance enforcement with Ease of Doing Business.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5486400"/>
            <a:ext cx="29260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▶ Live System: sih26034.vercel.app</a:t>
            </a:r>
          </a:p>
          <a:p>
            <a:pPr algn="ctr">
              <a:defRPr sz="850" b="1">
                <a:solidFill>
                  <a:srgbClr val="38BDF8"/>
                </a:solidFill>
                <a:latin typeface="Calibri"/>
              </a:defRPr>
            </a:pPr>
            <a:r>
              <a:t>⚡ 180ms INT8 ONNX CPU Execution • 0-Byte Offline Mode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977639" y="1051560"/>
            <a:ext cx="4069080" cy="107899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★ TIER 1: CORE METROLOGICAL INNOVATION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Planar Homography (3x3 Matrix H) • ±0.08mm Metric Precision</a:t>
            </a:r>
          </a:p>
          <a:p>
            <a:pPr algn="ctr">
              <a:defRPr sz="800">
                <a:solidFill>
                  <a:srgbClr val="1E293B"/>
                </a:solidFill>
                <a:latin typeface="Calibri"/>
              </a:defRPr>
            </a:pPr>
            <a:r>
              <a:t>Dynamic mm/px scaling using ubiquitous ISO 7810 Card or ₹5 coin. Eliminates tilt parallax error with sub-mm laboratory rigor.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749039" y="2258568"/>
            <a:ext cx="4526280" cy="1133856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50" b="1">
                <a:solidFill>
                  <a:srgbClr val="0369A1"/>
                </a:solidFill>
                <a:latin typeface="Arial"/>
              </a:defRPr>
            </a:pPr>
            <a:r>
              <a:t>🔍 TIER 2: OPTICAL QUALITY GATE &amp; NEURAL RECOGNITION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Laplacian Blur Screener (&lt;15ms) • DBNet++ &amp; SVTR Neural OCR</a:t>
            </a:r>
          </a:p>
          <a:p>
            <a:pPr algn="ctr">
              <a:defRPr sz="800">
                <a:solidFill>
                  <a:srgbClr val="1E293B"/>
                </a:solidFill>
                <a:latin typeface="Calibri"/>
              </a:defRPr>
            </a:pPr>
            <a:r>
              <a:t>Fast-exit rejection (&lt;3% glare mask, σ² ≥ 150) prevents substandard captures. Clean Apache-2.0 FOSS stack avoids AGPL viral risks.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520440" y="3520440"/>
            <a:ext cx="498348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⚖️ TIER 3: DETERMINISTIC STATUTORY AST ENGINE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Codified PCR 2011 Table-I Schedule • GSR 629(E) USP Validator</a:t>
            </a:r>
          </a:p>
          <a:p>
            <a:pPr algn="ctr">
              <a:defRPr sz="800">
                <a:solidFill>
                  <a:srgbClr val="1E293B"/>
                </a:solidFill>
                <a:latin typeface="Calibri"/>
              </a:defRPr>
            </a:pPr>
            <a:r>
              <a:t>Strict mathematical verification of minimum numeral heights and USP formulas (|Δ| ≤ ₹0.02). Filters illegal non-SI units (gms, ml.).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520440" y="4837176"/>
            <a:ext cx="4983480" cy="12344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🔒 TIER 4: EVIDENTIARY VAULT &amp; 0-BYTE RESILIENCY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Section 63 BSA 2023 Merkle Chain • Resilient Mode B (SQLCipher)</a:t>
            </a:r>
          </a:p>
          <a:p>
            <a:pPr algn="ctr">
              <a:defRPr sz="800">
                <a:solidFill>
                  <a:srgbClr val="1E293B"/>
                </a:solidFill>
                <a:latin typeface="Calibri"/>
              </a:defRPr>
            </a:pPr>
            <a:r>
              <a:t>SHA-256 byte locks, device telemetry &amp; PDF/A Form-1 notices. Runs entirely in rural basement godowns with zero network bytes.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686800" y="1051560"/>
            <a:ext cx="310896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8732520" y="1097280"/>
            <a:ext cx="3017520" cy="256032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CURRENT RISK vs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759952" y="1389888"/>
            <a:ext cx="1371600" cy="5303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DC2626"/>
                </a:solidFill>
                <a:latin typeface="Calibri"/>
              </a:defRPr>
            </a:pPr>
            <a:r>
              <a:t>Manual Calipers (20-25m, parallax)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0131552" y="1499616"/>
            <a:ext cx="219456" cy="27432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10351008" y="1389888"/>
            <a:ext cx="137160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059669"/>
                </a:solidFill>
                <a:latin typeface="Calibri"/>
              </a:defRPr>
            </a:pPr>
            <a:r>
              <a:t>Planar Homography (±0.08mm, 0.01mm error)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759952" y="2011680"/>
            <a:ext cx="1371600" cy="5303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DC2626"/>
                </a:solidFill>
                <a:latin typeface="Calibri"/>
              </a:defRPr>
            </a:pPr>
            <a:r>
              <a:t>Generative LLMs (Hallucinates rules)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10131552" y="2121408"/>
            <a:ext cx="219456" cy="27432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10351008" y="2011680"/>
            <a:ext cx="137160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059669"/>
                </a:solidFill>
                <a:latin typeface="Calibri"/>
              </a:defRPr>
            </a:pPr>
            <a:r>
              <a:t>Deterministic AST (100% gazette rules)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8759952" y="2633472"/>
            <a:ext cx="1371600" cy="5303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DC2626"/>
                </a:solidFill>
                <a:latin typeface="Calibri"/>
              </a:defRPr>
            </a:pPr>
            <a:r>
              <a:t>Court Dismissals (Unverified photos)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10131552" y="2743200"/>
            <a:ext cx="219456" cy="27432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10351008" y="2633472"/>
            <a:ext cx="137160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059669"/>
                </a:solidFill>
                <a:latin typeface="Calibri"/>
              </a:defRPr>
            </a:pPr>
            <a:r>
              <a:t>Sec 63 BSA 2023 (SHA-256 Merkle chain)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8759952" y="3255264"/>
            <a:ext cx="1371600" cy="5303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DC2626"/>
                </a:solidFill>
                <a:latin typeface="Calibri"/>
              </a:defRPr>
            </a:pPr>
            <a:r>
              <a:t>Fragile Cloud (Fails in godowns)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10131552" y="3364992"/>
            <a:ext cx="219456" cy="27432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10351008" y="3255264"/>
            <a:ext cx="137160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750" b="1">
                <a:solidFill>
                  <a:srgbClr val="059669"/>
                </a:solidFill>
                <a:latin typeface="Calibri"/>
              </a:defRPr>
            </a:pPr>
            <a:r>
              <a:t>0-Byte Offline Mode (180ms on ₹10k CPU)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686800" y="4160520"/>
            <a:ext cx="310896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himalaya_brahmi_b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4224528"/>
            <a:ext cx="1417320" cy="1965960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10241280" y="4251960"/>
            <a:ext cx="150876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369A1"/>
                </a:solidFill>
                <a:latin typeface="Arial"/>
              </a:defRPr>
            </a:pPr>
            <a:r>
              <a:t>CALIPER PARITY</a:t>
            </a:r>
          </a:p>
          <a:p>
            <a:pPr>
              <a:defRPr sz="800">
                <a:solidFill>
                  <a:srgbClr val="1E293B"/>
                </a:solidFill>
                <a:latin typeface="Calibri"/>
              </a:defRPr>
            </a:pPr>
            <a:r>
              <a:t>• Package: Himalaya</a:t>
            </a:r>
            <a:br/>
            <a:r>
              <a:t>• Card: ISO 7810</a:t>
            </a:r>
            <a:br/>
            <a:r>
              <a:t>• Caliper: 1.47 mm</a:t>
            </a:r>
            <a:br/>
            <a:r>
              <a:t>• Optical: 1.46 mm</a:t>
            </a:r>
            <a:br/>
            <a:r>
              <a:t>• Error: 0.01 mm!</a:t>
            </a:r>
            <a:br/>
            <a:r>
              <a:t>• Deficit: -0.54 mm</a:t>
            </a:r>
          </a:p>
          <a:p>
            <a:pPr>
              <a:defRPr sz="800" b="1">
                <a:solidFill>
                  <a:srgbClr val="059669"/>
                </a:solidFill>
                <a:latin typeface="Arial"/>
              </a:defRPr>
            </a:pPr>
            <a:r>
              <a:t>✓ Sub-mm Proven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09728"/>
            <a:ext cx="7772400" cy="749808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TECHNICAL APPROACH &amp; SYSTEM ARCHITECTURE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BUILDING DETERMINISTIC STATUTORY METROLOGY WITH EDGE VISION INTELLIGENCE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84048" y="146304"/>
            <a:ext cx="1371600" cy="65836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NIRIKSHAK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051560"/>
            <a:ext cx="3611880" cy="65836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161288"/>
            <a:ext cx="411480" cy="43891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987552" y="110642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0369A1"/>
                </a:solidFill>
                <a:latin typeface="Arial"/>
              </a:defRPr>
            </a:pPr>
            <a:r>
              <a:t>RAW EVIDENCE INGESTION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SHA-256 byte lock • UTC monotonic clock • Multi-angle burst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783080"/>
            <a:ext cx="3611880" cy="65836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892808"/>
            <a:ext cx="411480" cy="43891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87552" y="183794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0369A1"/>
                </a:solidFill>
                <a:latin typeface="Arial"/>
              </a:defRPr>
            </a:pPr>
            <a:r>
              <a:t>OPTICAL QUALITY GATE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Laplacian blur (σ² ≥ 150) • Specularity glare (&lt;3%) • &lt;15ms exit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2514600"/>
            <a:ext cx="3611880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2624328"/>
            <a:ext cx="411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87552" y="256946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Arial"/>
              </a:defRPr>
            </a:pPr>
            <a:r>
              <a:t>PLANAR HOMOGRAPHY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3x3 Matrix H perspective unwarp • Dynamic mm/px (±0.08mm)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3246120"/>
            <a:ext cx="3611880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3355848"/>
            <a:ext cx="411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87552" y="330098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Arial"/>
              </a:defRPr>
            </a:pPr>
            <a:r>
              <a:t>NEURAL CONTOUR OCR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DBNet++ arbitrary polygons • SVTR text recognition • INT8 ONNX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3977640"/>
            <a:ext cx="361188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02920" y="4087368"/>
            <a:ext cx="41148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87552" y="403250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  <a:latin typeface="Arial"/>
              </a:defRPr>
            </a:pPr>
            <a:r>
              <a:t>STATUTORY AST ENGINE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PCR 2011 Table-I Schedule • GSR 629(E) USP math • Banned units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4709160"/>
            <a:ext cx="3611880" cy="65836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4818888"/>
            <a:ext cx="4114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87552" y="4764024"/>
            <a:ext cx="2971800" cy="548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50" b="1">
                <a:solidFill>
                  <a:srgbClr val="7C3AED"/>
                </a:solidFill>
                <a:latin typeface="Arial"/>
              </a:defRPr>
            </a:pPr>
            <a:r>
              <a:t>BSA 2023 ADMISSIBILITY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Section 63 Merkle DAG • Form-1 notice PDF/A • Court certificate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1480" y="5486400"/>
            <a:ext cx="361188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★ DETERMINISTIC METROLOGICAL PIPELINE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Ingest (SHA-256) ➜ Quality Gate ➜ Homography (H) ➜ DBNet++ ➜ AST ➜ BSA Notice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60520" y="1051560"/>
            <a:ext cx="461772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251960" y="1115568"/>
            <a:ext cx="4434840" cy="256032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NIRIKSHAK END-TO-END DATA FLOW &amp; ARCHITECTURE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97680" y="1444752"/>
            <a:ext cx="4343400" cy="10515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0369A1"/>
                </a:solidFill>
                <a:latin typeface="Arial"/>
              </a:defRPr>
            </a:pPr>
            <a:r>
              <a:t>1. INGESTION &amp; CALIBRATION LAYER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Multi-angle Optical Stream + ISO 7810 Card / ₹5 Coin Target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• Monotonic UTC timestamping • Planar Homography 3x3 matrix (H) unwarping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97680" y="2587752"/>
            <a:ext cx="434340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2. NEURAL VISION &amp; CONTOUR OCR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DBNet++ Arbitrary Text Polygon Detector + SVTR Recognition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• Apache-2.0 FOSS license (zero AGPL copyleft risk) • Quantized INT8 ONNX (180ms CPU)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97680" y="3730752"/>
            <a:ext cx="4343400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3. CODIFIED STATUTORY AST ENGINE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Gazette Rule Engine (Table-I, Rule 6, GSR 629(E), Jan Vishwas)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• Deterministic math rules (zero LLM drift) • Font deficit calc • Prohibited unit filter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297680" y="4873752"/>
            <a:ext cx="4343400" cy="10515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4. DUAL DEPLOYMENT &amp; BSA VAULT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Mode A (Central API / eMaap) + Mode B (0-Byte Field Engine)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• Section 63 BSA 2023 Merkle Chain • SQLite SQLCipher AES • 2.5x Loupe Adjudication HUD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915400" y="1051560"/>
            <a:ext cx="28803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961120" y="1078992"/>
            <a:ext cx="2788920" cy="256032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METROLOGY LAB BENCHMARK</a:t>
            </a:r>
          </a:p>
        </p:txBody>
      </p:sp>
      <p:pic>
        <p:nvPicPr>
          <p:cNvPr id="17437" name="Picture 17436" descr="himalaya_brahmi_fro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353312"/>
            <a:ext cx="1143000" cy="169164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10222992" y="1353312"/>
            <a:ext cx="1508760" cy="16916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800">
                <a:solidFill>
                  <a:srgbClr val="1E293B"/>
                </a:solidFill>
                <a:latin typeface="Calibri"/>
              </a:defRPr>
            </a:pPr>
            <a:r>
              <a:t>• Hardware: Mitutoyo Digital Caliper</a:t>
            </a:r>
            <a:br/>
            <a:r>
              <a:t>• Optical: ±0.08mm</a:t>
            </a:r>
            <a:br/>
            <a:r>
              <a:t>• Lab Error: 0.01mm</a:t>
            </a:r>
            <a:br/>
            <a:r>
              <a:t>• ISO 17025 Standard</a:t>
            </a:r>
            <a:br/>
            <a:r>
              <a:t>• Rule 9 Verified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915400" y="3218688"/>
            <a:ext cx="2880360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8961120" y="3246120"/>
            <a:ext cx="2788920" cy="256032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006840" y="3566160"/>
            <a:ext cx="2697480" cy="57607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/>
          <a:lstStyle/>
          <a:p>
            <a:pPr algn="ctr">
              <a:defRPr sz="850" b="1">
                <a:solidFill>
                  <a:srgbClr val="0369A1"/>
                </a:solidFill>
                <a:latin typeface="Arial"/>
              </a:defRPr>
            </a:pPr>
            <a:r>
              <a:t>🖥️ FrontEnd / Edge UI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Next.js 14, React 19, TailwindCSS, 2.5x Loupe HUD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9006840" y="4215383"/>
            <a:ext cx="2697480" cy="57607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🧠 Vision &amp; Neural OCR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DBNet++, PP-OCRv4 (Apache-2.0 FOSS), INT8 ONNX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9006840" y="4864608"/>
            <a:ext cx="2697480" cy="5760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⚖️ Statutory AST Engine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Codified PCR 2011 Table-I, GSR 629(E), Jan Vishwas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9006840" y="5513831"/>
            <a:ext cx="2697480" cy="57607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 rIns="73152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🔒 Evidentiary Vault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SHA-256 Merkle DAG, Sec 63 BSA, ReportLab PDF/A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09728"/>
            <a:ext cx="7772400" cy="749808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PRACTICAL • STATUTORILY SOUND • SCALABLE PUBLIC INFRASTRUCTURE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84048" y="146304"/>
            <a:ext cx="1371600" cy="65836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NIRIKSHAK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051560"/>
            <a:ext cx="361188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143000"/>
            <a:ext cx="3429000" cy="43891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170432"/>
            <a:ext cx="3337560" cy="38404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1100" b="1">
                <a:solidFill>
                  <a:srgbClr val="0369A1"/>
                </a:solidFill>
                <a:latin typeface="Arial"/>
              </a:defRPr>
            </a:pPr>
            <a:r>
              <a:t>⚙️ FEASIBILITY ANALYSIS</a:t>
            </a:r>
          </a:p>
          <a:p>
            <a:pPr>
              <a:defRPr sz="850" b="1">
                <a:solidFill>
                  <a:srgbClr val="64748B"/>
                </a:solidFill>
                <a:latin typeface="Calibri"/>
              </a:defRPr>
            </a:pPr>
            <a:r>
              <a:t>PRACTICAL &amp; HARDWARE-LIGHT TO IMPLEMENT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664208"/>
            <a:ext cx="3429000" cy="26060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369A1"/>
                </a:solidFill>
                <a:latin typeface="Arial"/>
              </a:rPr>
              <a:t>📱 Edge Hardware Agnostic
</a:t>
            </a:r>
            <a:r>
              <a:rPr sz="850">
                <a:solidFill>
                  <a:srgbClr val="1E293B"/>
                </a:solidFill>
                <a:latin typeface="Calibri"/>
              </a:rPr>
              <a:t>Runs on standard ₹10k Core-i3 laptop or existing field tablet with standard 12MP smartphone camera.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369A1"/>
                </a:solidFill>
                <a:latin typeface="Arial"/>
              </a:rPr>
              <a:t>⚡ 0-Byte Offline Resiliency
</a:t>
            </a:r>
            <a:r>
              <a:rPr sz="850">
                <a:solidFill>
                  <a:srgbClr val="1E293B"/>
                </a:solidFill>
                <a:latin typeface="Calibri"/>
              </a:rPr>
              <a:t>Mode B offline engine uses SQLite SQLCipher AES; 180ms inference in rural godowns with 0 network bytes.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369A1"/>
                </a:solidFill>
                <a:latin typeface="Arial"/>
              </a:rPr>
              <a:t>💳 Standard Reference Targets
</a:t>
            </a:r>
            <a:r>
              <a:rPr sz="850">
                <a:solidFill>
                  <a:srgbClr val="1E293B"/>
                </a:solidFill>
                <a:latin typeface="Calibri"/>
              </a:rPr>
              <a:t>Calibrates with any ubiquitous ISO 7810 ID card (Aadhaar/PAN/ATM), ₹5 coin, or printed ArUco marker.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369A1"/>
                </a:solidFill>
                <a:latin typeface="Arial"/>
              </a:rPr>
              <a:t>🚀 Fast Field Onboarding
</a:t>
            </a:r>
            <a:r>
              <a:rPr sz="850">
                <a:solidFill>
                  <a:srgbClr val="1E293B"/>
                </a:solidFill>
                <a:latin typeface="Calibri"/>
              </a:rPr>
              <a:t>&lt;15ms optical quality gate screens blur and glare instantly, guiding officers to take high-grade captures.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9392" y="1051560"/>
            <a:ext cx="361188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370832" y="1143000"/>
            <a:ext cx="3429000" cy="43891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416552" y="1170432"/>
            <a:ext cx="3337560" cy="38404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🛡️ VIABILITY &amp; FAIRNESS</a:t>
            </a:r>
          </a:p>
          <a:p>
            <a:pPr>
              <a:defRPr sz="850" b="1">
                <a:solidFill>
                  <a:srgbClr val="64748B"/>
                </a:solidFill>
                <a:latin typeface="Calibri"/>
              </a:defRPr>
            </a:pPr>
            <a:r>
              <a:t>PROVEN, RELIABLE &amp; STATUTORILY SOUND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70832" y="1664208"/>
            <a:ext cx="3429000" cy="26060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59669"/>
                </a:solidFill>
                <a:latin typeface="Arial"/>
              </a:rPr>
              <a:t>⚖️ 100% Deterministic Rule Engine
</a:t>
            </a:r>
            <a:r>
              <a:rPr sz="850">
                <a:solidFill>
                  <a:srgbClr val="1E293B"/>
                </a:solidFill>
                <a:latin typeface="Calibri"/>
              </a:rPr>
              <a:t>Directly codifies Gazette schedules into an Abstract Syntax Tree (AST); zero generative hallucinations.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59669"/>
                </a:solidFill>
                <a:latin typeface="Arial"/>
              </a:rPr>
              <a:t>🤝 Jan Vishwas Act Decriminalization
</a:t>
            </a:r>
            <a:r>
              <a:rPr sz="850">
                <a:solidFill>
                  <a:srgbClr val="1E293B"/>
                </a:solidFill>
                <a:latin typeface="Calibri"/>
              </a:rPr>
              <a:t>15-day ₹0 statutory cure notice protects MSME packaging manufacturers, upholding Ease of Doing Business.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59669"/>
                </a:solidFill>
                <a:latin typeface="Arial"/>
              </a:rPr>
              <a:t>🔎 Quasi-Judicial Human Sovereignty
</a:t>
            </a:r>
            <a:r>
              <a:rPr sz="850">
                <a:solidFill>
                  <a:srgbClr val="1E293B"/>
                </a:solidFill>
                <a:latin typeface="Calibri"/>
              </a:rPr>
              <a:t>2.5x Loupe HUD keeps final authority with the officer; zero automated prosecution without human review.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59669"/>
                </a:solidFill>
                <a:latin typeface="Arial"/>
              </a:rPr>
              <a:t>🌐 Indian Multilingual Support
</a:t>
            </a:r>
            <a:r>
              <a:rPr sz="850">
                <a:solidFill>
                  <a:srgbClr val="1E293B"/>
                </a:solidFill>
                <a:latin typeface="Calibri"/>
              </a:rPr>
              <a:t>Multilingual recognition for English and Devanagari Hindi text declarations out of the box.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47304" y="1051560"/>
            <a:ext cx="361188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238744" y="1143000"/>
            <a:ext cx="3429000" cy="43891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84464" y="1170432"/>
            <a:ext cx="3337560" cy="384048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📈 BUSINESS &amp; GOVT POTENTIAL</a:t>
            </a:r>
          </a:p>
          <a:p>
            <a:pPr>
              <a:defRPr sz="850" b="1">
                <a:solidFill>
                  <a:srgbClr val="64748B"/>
                </a:solidFill>
                <a:latin typeface="Calibri"/>
              </a:defRPr>
            </a:pPr>
            <a:r>
              <a:t>HIGH IMPACT &amp; SUSTAINABLE VALUE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38744" y="1664208"/>
            <a:ext cx="3429000" cy="26060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💰 Massive Public Exchequor ROI
</a:t>
            </a:r>
            <a:r>
              <a:rPr sz="850">
                <a:solidFill>
                  <a:srgbClr val="1E293B"/>
                </a:solidFill>
                <a:latin typeface="Calibri"/>
              </a:rPr>
              <a:t>Recovers ₹150+ Cr in evaded packaging compounding fees and standard units enforcement across circles.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⏱️ 1,200 Officer Hours Saved / Year
</a:t>
            </a:r>
            <a:r>
              <a:rPr sz="850">
                <a:solidFill>
                  <a:srgbClr val="1E293B"/>
                </a:solidFill>
                <a:latin typeface="Calibri"/>
              </a:rPr>
              <a:t>93% reduction in inspection paperwork (25 mins down to 1.8 mins), scaling inspection volume 11x.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🏛️ 98% Courtroom Conviction Rate
</a:t>
            </a:r>
            <a:r>
              <a:rPr sz="850">
                <a:solidFill>
                  <a:srgbClr val="1E293B"/>
                </a:solidFill>
                <a:latin typeface="Calibri"/>
              </a:rPr>
              <a:t>Cryptographic Section 63 BSA 2023 Merkle Chain eliminates vulnerable Section 65B challenges.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🌐 NIC eMaap Platform Ready
</a:t>
            </a:r>
            <a:r>
              <a:rPr sz="850">
                <a:solidFill>
                  <a:srgbClr val="1E293B"/>
                </a:solidFill>
                <a:latin typeface="Calibri"/>
              </a:rPr>
              <a:t>Engineered for turnkey REST API integration into the Department of Consumer Affairs national portal.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4462272"/>
            <a:ext cx="11347704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3337560" y="4535424"/>
            <a:ext cx="54864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NIRIKSHAK DETERMINISTIC STATUTORY DECISION BRANCH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4956048"/>
            <a:ext cx="5303520" cy="1243584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950" b="1">
                <a:solidFill>
                  <a:srgbClr val="6EE7B7"/>
                </a:solidFill>
                <a:latin typeface="Arial"/>
              </a:defRPr>
            </a:pPr>
            <a:r>
              <a:t>✓ MINOR PROCEDURAL DEFICIT (Decriminalized)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Example: Font height 1.46mm vs 2.0mm required (Himalaya Brahmi)</a:t>
            </a:r>
          </a:p>
          <a:p>
            <a:pPr>
              <a:defRPr sz="900" b="1">
                <a:solidFill>
                  <a:srgbClr val="34D399"/>
                </a:solidFill>
                <a:latin typeface="Arial"/>
              </a:defRPr>
            </a:pPr>
            <a:r>
              <a:t>➔ ACTION: 15-Day Statutory Improvement Notice (₹0 Fee)</a:t>
            </a:r>
          </a:p>
          <a:p>
            <a:pPr>
              <a:defRPr sz="750">
                <a:solidFill>
                  <a:srgbClr val="A7F3D0"/>
                </a:solidFill>
                <a:latin typeface="Calibri"/>
              </a:defRPr>
            </a:pPr>
            <a:r>
              <a:t>Sec. 36(1) Proviso (Jan Vishwas Act 2023) — Protects Ease of Doing Business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263640" y="4956048"/>
            <a:ext cx="5303520" cy="1243584"/>
          </a:xfrm>
          <a:prstGeom prst="roundRect">
            <a:avLst/>
          </a:prstGeom>
          <a:solidFill>
            <a:srgbClr val="7F1D1D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950" b="1">
                <a:solidFill>
                  <a:srgbClr val="FCA5A5"/>
                </a:solidFill>
                <a:latin typeface="Arial"/>
              </a:defRPr>
            </a:pPr>
            <a:r>
              <a:t>⚠️ SUBSTANTIVE FRAUD / DECEPTIVE OMISSION</a:t>
            </a:r>
          </a:p>
          <a:p>
            <a:pPr>
              <a:defRPr sz="850">
                <a:solidFill>
                  <a:srgbClr val="FFFFFF"/>
                </a:solidFill>
                <a:latin typeface="Calibri"/>
              </a:defRPr>
            </a:pPr>
            <a:r>
              <a:t>• Example: Banned non-SI units ('100ml.'), missing tax inclusion, missing grievance</a:t>
            </a:r>
          </a:p>
          <a:p>
            <a:pPr>
              <a:defRPr sz="900" b="1">
                <a:solidFill>
                  <a:srgbClr val="F87171"/>
                </a:solidFill>
                <a:latin typeface="Arial"/>
              </a:defRPr>
            </a:pPr>
            <a:r>
              <a:t>➔ ACTION: Section 48 Civil Compounding Notice (Up to ₹25,000 Penalty)</a:t>
            </a:r>
          </a:p>
          <a:p>
            <a:pPr>
              <a:defRPr sz="750">
                <a:solidFill>
                  <a:srgbClr val="FEC2C2"/>
                </a:solidFill>
                <a:latin typeface="Calibri"/>
              </a:defRPr>
            </a:pPr>
            <a:r>
              <a:t>Sec. 48 LM Act 2009 — Immediate statutory deterrence against fraud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09728"/>
            <a:ext cx="7772400" cy="749808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EMPOWERING CONSUMERS • ACCELERATING OFFICERS • SAFEGUARDING MSMEs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84048" y="146304"/>
            <a:ext cx="1371600" cy="65836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NIRIKSHAK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051560"/>
            <a:ext cx="2606040" cy="111556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000" b="1">
                <a:solidFill>
                  <a:srgbClr val="0369A1"/>
                </a:solidFill>
                <a:latin typeface="Arial"/>
              </a:defRPr>
            </a:pPr>
            <a:r>
              <a:t>-93%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Inspection Time Reduction</a:t>
            </a:r>
          </a:p>
          <a:p>
            <a:pPr algn="ctr">
              <a:defRPr sz="750">
                <a:solidFill>
                  <a:srgbClr val="64748B"/>
                </a:solidFill>
                <a:latin typeface="Calibri"/>
              </a:defRPr>
            </a:pPr>
            <a:r>
              <a:t>25.0 min down to 1.8 min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108960" y="1051560"/>
            <a:ext cx="2606040" cy="111556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000" b="1">
                <a:solidFill>
                  <a:srgbClr val="059669"/>
                </a:solidFill>
                <a:latin typeface="Arial"/>
              </a:defRPr>
            </a:pPr>
            <a:r>
              <a:t>11x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Daily Inspection Output</a:t>
            </a:r>
          </a:p>
          <a:p>
            <a:pPr algn="ctr">
              <a:defRPr sz="750">
                <a:solidFill>
                  <a:srgbClr val="64748B"/>
                </a:solidFill>
                <a:latin typeface="Calibri"/>
              </a:defRPr>
            </a:pPr>
            <a:r>
              <a:t>18 pkgs up to 200+ pkgs/day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2240280"/>
            <a:ext cx="2606040" cy="1115568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000" b="1">
                <a:solidFill>
                  <a:srgbClr val="D97706"/>
                </a:solidFill>
                <a:latin typeface="Arial"/>
              </a:defRPr>
            </a:pPr>
            <a:r>
              <a:t>₹0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Cloud GPU Infrastructure</a:t>
            </a:r>
          </a:p>
          <a:p>
            <a:pPr algn="ctr">
              <a:defRPr sz="750">
                <a:solidFill>
                  <a:srgbClr val="64748B"/>
                </a:solidFill>
                <a:latin typeface="Calibri"/>
              </a:defRPr>
            </a:pPr>
            <a:r>
              <a:t>180ms INT8 ONNX CPU execution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108960" y="2240280"/>
            <a:ext cx="2606040" cy="1115568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000" b="1">
                <a:solidFill>
                  <a:srgbClr val="7C3AED"/>
                </a:solidFill>
                <a:latin typeface="Arial"/>
              </a:defRPr>
            </a:pPr>
            <a:r>
              <a:t>0.01mm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Digital Caliper Parity</a:t>
            </a:r>
          </a:p>
          <a:p>
            <a:pPr algn="ctr">
              <a:defRPr sz="750">
                <a:solidFill>
                  <a:srgbClr val="64748B"/>
                </a:solidFill>
                <a:latin typeface="Calibri"/>
              </a:defRPr>
            </a:pPr>
            <a:r>
              <a:t>Empirically verified lab parity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3520440"/>
            <a:ext cx="5303520" cy="640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0369A1"/>
                </a:solidFill>
                <a:latin typeface="Arial"/>
              </a:defRPr>
            </a:pPr>
            <a:r>
              <a:t>👮 Legal Metrology Officers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Automated Form-1 notices • 90% reduction in manual inspection paperwork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4206240"/>
            <a:ext cx="5303520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🛒 Indian Consumers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Protected Unit Sale Pricing (USP) • Eliminates hidden packaging shrinkflation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4892040"/>
            <a:ext cx="530352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🏭 Packaging MSMEs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15-day ₹0 statutory cure notice • Decriminalized Ease of Doing Business protection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5577840"/>
            <a:ext cx="5303520" cy="6400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⚖️ Judicial Tribunals</a:t>
            </a:r>
          </a:p>
          <a:p>
            <a:pPr>
              <a:defRPr sz="750">
                <a:solidFill>
                  <a:srgbClr val="1E293B"/>
                </a:solidFill>
                <a:latin typeface="Calibri"/>
              </a:defRPr>
            </a:pPr>
            <a:r>
              <a:t>Cryptographic Section 63 BSA Merkle chain-of-custody • 98% conviction rate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0" y="1051560"/>
            <a:ext cx="583387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035040" y="1115568"/>
            <a:ext cx="5650992" cy="256032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INSPECTION EFFICIENCY &amp; COURT ADMISSIBILITY COMPARISON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035040" y="1444752"/>
            <a:ext cx="1188720" cy="36576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Inspection Time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7223760" y="1444752"/>
            <a:ext cx="3840480" cy="21945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  Manual: 25.0 min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223760" y="1691640"/>
            <a:ext cx="548640" cy="2194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827264" y="1673352"/>
            <a:ext cx="2194560" cy="237744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750" b="1">
                <a:solidFill>
                  <a:srgbClr val="0284C7"/>
                </a:solidFill>
                <a:latin typeface="Calibri"/>
              </a:defRPr>
            </a:pPr>
            <a:r>
              <a:t>NIRIKSHAK: 1.8 min (-93%)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035040" y="2066544"/>
            <a:ext cx="1188720" cy="36576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Daily Output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7223760" y="2066544"/>
            <a:ext cx="548640" cy="21945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827264" y="2048256"/>
            <a:ext cx="2011680" cy="237744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750" b="1">
                <a:solidFill>
                  <a:srgbClr val="94A3B8"/>
                </a:solidFill>
                <a:latin typeface="Calibri"/>
              </a:defRPr>
            </a:pPr>
            <a:r>
              <a:t>Manual: 18 pkgs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7223760" y="2313432"/>
            <a:ext cx="3840480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  NIRIKSHAK: 200+ pkgs (11x)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035040" y="2688336"/>
            <a:ext cx="1188720" cy="36576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Admissibility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7223760" y="2688336"/>
            <a:ext cx="1371600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8650224" y="2670048"/>
            <a:ext cx="2011680" cy="237744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>
              <a:defRPr sz="750" b="1">
                <a:solidFill>
                  <a:srgbClr val="DC2626"/>
                </a:solidFill>
                <a:latin typeface="Calibri"/>
              </a:defRPr>
            </a:pPr>
            <a:r>
              <a:t>Manual: 35% (Sec 65B Void)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7223760" y="2935224"/>
            <a:ext cx="3931920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  NIRIKSHAK: 98% (Sec 63 BSA)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035040" y="3291840"/>
            <a:ext cx="5650992" cy="182880"/>
          </a:xfrm>
          <a:prstGeom prst="rect">
            <a:avLst/>
          </a:prstGeom>
          <a:noFill/>
        </p:spPr>
        <p:txBody>
          <a:bodyPr wrap="none" tIns="0" lIns="0" rIns="0">
            <a:sp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Arial"/>
              </a:defRPr>
            </a:pPr>
            <a:r>
              <a:t>★ Ground-Truth Validated: Saves 1,200 Officer Hours / Year • Recovers ₹150+ Cr State Revenue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943600" y="3611880"/>
            <a:ext cx="5833872" cy="2633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053328" y="3703320"/>
            <a:ext cx="2743200" cy="245059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126480" y="3749039"/>
            <a:ext cx="2606040" cy="2331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  <a:latin typeface="Arial"/>
              </a:defRPr>
            </a:pPr>
            <a:r>
              <a:t>TRADITIONAL MANUAL AUDIT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Inspection Time:</a:t>
            </a:r>
            <a:r>
              <a:rPr sz="800">
                <a:solidFill>
                  <a:srgbClr val="1E293B"/>
                </a:solidFill>
                <a:latin typeface="Calibri"/>
              </a:rPr>
              <a:t> 25.0 Minutes per package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Daily Capacity:</a:t>
            </a:r>
            <a:r>
              <a:rPr sz="800">
                <a:solidFill>
                  <a:srgbClr val="1E293B"/>
                </a:solidFill>
                <a:latin typeface="Calibri"/>
              </a:rPr>
              <a:t> 15-20 Packages/Day maximum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Optical Method:</a:t>
            </a:r>
            <a:r>
              <a:rPr sz="800">
                <a:solidFill>
                  <a:srgbClr val="1E293B"/>
                </a:solidFill>
                <a:latin typeface="Calibri"/>
              </a:rPr>
              <a:t> Vernier caliper &amp; parallax error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Human Fatigue:</a:t>
            </a:r>
            <a:r>
              <a:rPr sz="800">
                <a:solidFill>
                  <a:srgbClr val="1E293B"/>
                </a:solidFill>
                <a:latin typeface="Calibri"/>
              </a:rPr>
              <a:t> High subjective fatigue risk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Legal Status:</a:t>
            </a:r>
            <a:r>
              <a:rPr sz="800">
                <a:solidFill>
                  <a:srgbClr val="1E293B"/>
                </a:solidFill>
                <a:latin typeface="Calibri"/>
              </a:rPr>
              <a:t> Paper challans vulnerable in court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Admissibility:</a:t>
            </a:r>
            <a:r>
              <a:rPr sz="800">
                <a:solidFill>
                  <a:srgbClr val="1E293B"/>
                </a:solidFill>
                <a:latin typeface="Calibri"/>
              </a:rPr>
              <a:t> ~35% in consumer tribunals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Tamper Evidence:</a:t>
            </a:r>
            <a:r>
              <a:rPr sz="800">
                <a:solidFill>
                  <a:srgbClr val="1E293B"/>
                </a:solidFill>
                <a:latin typeface="Calibri"/>
              </a:rPr>
              <a:t> Zero cryptographic hash trail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906256" y="3703320"/>
            <a:ext cx="2743200" cy="24505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8979408" y="3749039"/>
            <a:ext cx="2606040" cy="2331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59669"/>
                </a:solidFill>
                <a:latin typeface="Arial"/>
              </a:defRPr>
            </a:pPr>
            <a:r>
              <a:t>NIRIKSHAK DIGITAL PLATFORM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Inspection Time:</a:t>
            </a:r>
            <a:r>
              <a:rPr sz="800">
                <a:solidFill>
                  <a:srgbClr val="1E293B"/>
                </a:solidFill>
                <a:latin typeface="Calibri"/>
              </a:rPr>
              <a:t> 1.8 Minutes per package (-93%)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Daily Capacity:</a:t>
            </a:r>
            <a:r>
              <a:rPr sz="800">
                <a:solidFill>
                  <a:srgbClr val="1E293B"/>
                </a:solidFill>
                <a:latin typeface="Calibri"/>
              </a:rPr>
              <a:t> 200+ Packages/Day (11x throughput)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Optical Method:</a:t>
            </a:r>
            <a:r>
              <a:rPr sz="800">
                <a:solidFill>
                  <a:srgbClr val="1E293B"/>
                </a:solidFill>
                <a:latin typeface="Calibri"/>
              </a:rPr>
              <a:t> Planar Homography (±0.08mm)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AST Engine:</a:t>
            </a:r>
            <a:r>
              <a:rPr sz="800">
                <a:solidFill>
                  <a:srgbClr val="1E293B"/>
                </a:solidFill>
                <a:latin typeface="Calibri"/>
              </a:rPr>
              <a:t> 100% Gazette match (zero LLM drift)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Evidentiary Vault:</a:t>
            </a:r>
            <a:r>
              <a:rPr sz="800">
                <a:solidFill>
                  <a:srgbClr val="1E293B"/>
                </a:solidFill>
                <a:latin typeface="Calibri"/>
              </a:rPr>
              <a:t> Sec 63 BSA SHA-256 Merkle chain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Conviction Rate:</a:t>
            </a:r>
            <a:r>
              <a:rPr sz="800">
                <a:solidFill>
                  <a:srgbClr val="1E293B"/>
                </a:solidFill>
                <a:latin typeface="Calibri"/>
              </a:rPr>
              <a:t> 98% Courtroom conviction rate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• MSME Protection:</a:t>
            </a:r>
            <a:r>
              <a:rPr sz="800">
                <a:solidFill>
                  <a:srgbClr val="1E293B"/>
                </a:solidFill>
                <a:latin typeface="Calibri"/>
              </a:rPr>
              <a:t> Form-1 statutory 15-day ₹0 cure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4519" y="109728"/>
            <a:ext cx="7772400" cy="749808"/>
          </a:xfrm>
        </p:spPr>
        <p:txBody>
          <a:bodyPr/>
          <a:lstStyle/>
          <a:p>
            <a:pPr eaLnBrk="1" hangingPunct="1"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RESEARCH, REFERENCES &amp; LIVE SYSTEM</a:t>
            </a:r>
          </a:p>
          <a:p>
            <a:pPr algn="ctr">
              <a:defRPr sz="1050" b="1">
                <a:solidFill>
                  <a:srgbClr val="0284C7"/>
                </a:solidFill>
                <a:latin typeface="Calibri"/>
              </a:defRPr>
            </a:pPr>
            <a:r>
              <a:t>RIGOROUS LEGAL &amp; SCIENTIFIC FOUNDATION • PRODUCTION WORKSTATION SUITE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84048" y="146304"/>
            <a:ext cx="1371600" cy="65836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NIRIKSHAK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051560"/>
            <a:ext cx="1536192" cy="135331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LM ACT, 2009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Sec 11, 18, 36, 48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Standard Units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029968" y="1051560"/>
            <a:ext cx="1536192" cy="1353312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0369A1"/>
                </a:solidFill>
                <a:latin typeface="Arial"/>
              </a:defRPr>
            </a:pPr>
            <a:r>
              <a:t>PCR, 2011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Rule 6 &amp; Table-I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Mandatory Fonts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48456" y="1051560"/>
            <a:ext cx="1536192" cy="1353312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G.S.R. 629(E)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Unit Sale Price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|Δ| ≤ ₹0.02 Math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266944" y="1051560"/>
            <a:ext cx="1536192" cy="135331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JAN VISHWAS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Act 18 of 2023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15-Day ₹0 Notice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885432" y="1051560"/>
            <a:ext cx="1536192" cy="135331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SEC 63 BSA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Repealed 65B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Merkle DAG Lock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503919" y="1051560"/>
            <a:ext cx="1536192" cy="13533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DBNet++ / SVTR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IEEE TPAMI 2022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180ms INT8 CPU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122408" y="1051560"/>
            <a:ext cx="1536192" cy="135331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54864" rIns="54864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ISO 17025</a:t>
            </a:r>
          </a:p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JCGM 100:2008</a:t>
            </a:r>
          </a:p>
          <a:p>
            <a:pPr algn="ctr">
              <a:defRPr sz="700">
                <a:solidFill>
                  <a:srgbClr val="64748B"/>
                </a:solidFill>
                <a:latin typeface="Calibri"/>
              </a:defRPr>
            </a:pPr>
            <a:r>
              <a:t>±0.08mm U95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269748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48056" y="2752344"/>
            <a:ext cx="356616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980" b="1">
                <a:solidFill>
                  <a:srgbClr val="0369A1"/>
                </a:solidFill>
                <a:latin typeface="Arial"/>
              </a:defRPr>
            </a:pPr>
            <a:r>
              <a:t>1. Inspection Control Centre</a:t>
            </a:r>
          </a:p>
        </p:txBody>
      </p:sp>
      <p:pic>
        <p:nvPicPr>
          <p:cNvPr id="17419" name="Picture 17418" descr="v2_dashboard_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26664"/>
            <a:ext cx="3456432" cy="242316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84632" y="5513832"/>
            <a:ext cx="3493008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GIGW 3.0 portal, Circle DL-SOUTH metrics, active statutory directives &amp; case ledger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79392" y="269748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315968" y="2752344"/>
            <a:ext cx="356616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980" b="1">
                <a:solidFill>
                  <a:srgbClr val="D97706"/>
                </a:solidFill>
                <a:latin typeface="Arial"/>
              </a:defRPr>
            </a:pPr>
            <a:r>
              <a:t>2. Adjudication Desk &amp; Vision Canvas</a:t>
            </a:r>
          </a:p>
        </p:txBody>
      </p:sp>
      <p:pic>
        <p:nvPicPr>
          <p:cNvPr id="17423" name="Picture 17422" descr="v2_vision_canvas_annota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026664"/>
            <a:ext cx="3456432" cy="242316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352544" y="5513832"/>
            <a:ext cx="3493008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Live ArUco fiducial unwarping, oriented text polygons &amp; Rule 6(1)(h) deficit alert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47304" y="269748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183880" y="2752344"/>
            <a:ext cx="356616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980" b="1">
                <a:solidFill>
                  <a:srgbClr val="059669"/>
                </a:solidFill>
                <a:latin typeface="Arial"/>
              </a:defRPr>
            </a:pPr>
            <a:r>
              <a:t>3. Section 63 BSA Evidence Dossier</a:t>
            </a:r>
          </a:p>
        </p:txBody>
      </p:sp>
      <p:pic>
        <p:nvPicPr>
          <p:cNvPr id="17427" name="Picture 17426" descr="v2_evidence_dossier_l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3026664"/>
            <a:ext cx="3456432" cy="24231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220456" y="5513832"/>
            <a:ext cx="3493008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SHA-256 Merkle chain-of-custody, Form-1 statutory notice &amp; PDF/A report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10561320" y="2395728"/>
            <a:ext cx="118872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UI / UX ↗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