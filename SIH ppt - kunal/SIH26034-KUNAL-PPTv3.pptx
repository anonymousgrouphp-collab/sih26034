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5760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Arial"/>
              </a:defRPr>
            </a:pPr>
            <a:r>
              <a:t>SMART INDIA HACKATHON 2026 • INTERNAL HACKATHON</a:t>
            </a:r>
          </a:p>
          <a:p>
            <a:pPr>
              <a:defRPr sz="950" b="1">
                <a:solidFill>
                  <a:srgbClr val="334155"/>
                </a:solidFill>
                <a:latin typeface="Arial"/>
              </a:defRPr>
            </a:pPr>
            <a:r>
              <a:t>MINISTRY OF CONSUMER AFFAIRS, FOOD &amp; PUBLIC DISTRIBUTION</a:t>
            </a:r>
            <a:br/>
            <a:r>
              <a:t>DEPARTMENT OF CONSUMER AFFAIRS (DoCA) • GOVT. OF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61872"/>
            <a:ext cx="292608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tIns="64008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PROBLEM STATEMENT ID: SIH26034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10512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Packaged Commodities Legal Metrology Compliance Inspection Platform</a:t>
            </a:r>
          </a:p>
          <a:p>
            <a:pPr>
              <a:defRPr sz="1200" b="1">
                <a:solidFill>
                  <a:srgbClr val="D97706"/>
                </a:solidFill>
                <a:latin typeface="Arial"/>
              </a:defRPr>
            </a:pPr>
            <a:r>
              <a:t>Project NIRIKSHAK (निरीक्षक): Calibrated Computer Vision &amp; Deterministic Legal AI</a:t>
            </a:r>
          </a:p>
          <a:p>
            <a:br/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Theme: Smart Automation / Consumer Protection  • Category: Software  • Statute: LMPC Rules 2011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6766560" cy="2240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041648"/>
            <a:ext cx="64922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👥 CORE ENGINEERING TEAM • TEAM NIRIKSHAK (SIH26034)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370832"/>
            <a:ext cx="2084831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Kunal Raj</a:t>
            </a:r>
          </a:p>
          <a:p>
            <a:pPr>
              <a:defRPr sz="800" b="1">
                <a:solidFill>
                  <a:srgbClr val="2563EB"/>
                </a:solidFill>
                <a:latin typeface="Arial"/>
              </a:defRPr>
            </a:pPr>
            <a:r>
              <a:t>CV, Metrology &amp; Planar Homography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ArUco scale calibration, homography warp, Table-I font metric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18103" y="4370832"/>
            <a:ext cx="2084831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Parmarth Kumar</a:t>
            </a:r>
          </a:p>
          <a:p>
            <a:pPr>
              <a:defRPr sz="800" b="1">
                <a:solidFill>
                  <a:srgbClr val="2563EB"/>
                </a:solidFill>
                <a:latin typeface="Arial"/>
              </a:defRPr>
            </a:pPr>
            <a:r>
              <a:t>Multilingual OCR &amp; Lead Frontend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DBNet++ detection, PP-OCRv4 Hindi/Latin, React 18 inspection HUD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67526" y="4370832"/>
            <a:ext cx="2084831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Harsh Patel</a:t>
            </a:r>
          </a:p>
          <a:p>
            <a:pPr>
              <a:defRPr sz="800" b="1">
                <a:solidFill>
                  <a:srgbClr val="2563EB"/>
                </a:solidFill>
                <a:latin typeface="Arial"/>
              </a:defRPr>
            </a:pPr>
            <a:r>
              <a:t>Semantic Extraction &amp; Cloud Arch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Statutory regex AST, banned unit detector, OCI &amp; Vercel edge deployment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321808"/>
            <a:ext cx="2084831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Ambika Bansal</a:t>
            </a:r>
          </a:p>
          <a:p>
            <a:pPr>
              <a:defRPr sz="800" b="1">
                <a:solidFill>
                  <a:srgbClr val="2563EB"/>
                </a:solidFill>
                <a:latin typeface="Arial"/>
              </a:defRPr>
            </a:pPr>
            <a:r>
              <a:t>Statutory Rule Engine AST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Rule 6 mandatory declarations, Table-I schedules, 4-state epistemic triage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18103" y="5321808"/>
            <a:ext cx="2084831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Shailendra Pratap Singh</a:t>
            </a:r>
          </a:p>
          <a:p>
            <a:pPr>
              <a:defRPr sz="800" b="1">
                <a:solidFill>
                  <a:srgbClr val="2563EB"/>
                </a:solidFill>
                <a:latin typeface="Arial"/>
              </a:defRPr>
            </a:pPr>
            <a:r>
              <a:t>Evidence &amp; Cryptography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Section 63 BSA 2023 Merkle DAG root, Form-1 court-admissible PDF/A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67526" y="5321808"/>
            <a:ext cx="2084831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Urvashi Rajput</a:t>
            </a:r>
          </a:p>
          <a:p>
            <a:pPr>
              <a:defRPr sz="800" b="1">
                <a:solidFill>
                  <a:srgbClr val="2563EB"/>
                </a:solidFill>
                <a:latin typeface="Arial"/>
              </a:defRPr>
            </a:pPr>
            <a:r>
              <a:t>UI/UX Architecture &amp; Ergonomics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Workstation layout, quick triage pills, officer inspection ergonomics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320040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NIRIKSHAK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94560" y="256032"/>
            <a:ext cx="84124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NIRIKSHAK: AI-POWERED LEGAL METROLOGY COMPLIANCE PLATFORM</a:t>
            </a:r>
          </a:p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Revolutionizing Packaged Commodity Inspections across 1.2 Crore Retail Outlets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234440"/>
            <a:ext cx="3291840" cy="14630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100" b="1">
                <a:solidFill>
                  <a:srgbClr val="DC2626"/>
                </a:solidFill>
                <a:latin typeface="Arial"/>
              </a:defRPr>
            </a:pPr>
            <a:r>
              <a:t>🚨 Real-world Issue: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t>1.2 Cr Stores vs 3,000 Officers (4,000:1 ratio). Manual vernier caliper inspection takes 8-10 mins per pack in crowded mandis. Contested manual measurements cause 65% of compounding challans to fail in District Courts.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88920"/>
            <a:ext cx="3291840" cy="13716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100" b="1">
                <a:solidFill>
                  <a:srgbClr val="D97706"/>
                </a:solidFill>
                <a:latin typeface="Arial"/>
              </a:defRPr>
            </a:pPr>
            <a:r>
              <a:t>⚠️ Why Important: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t>Consumer protection crisis: ₹1,800+ Cr annual consumer loss from stealth shrinkflation, illegal unit notations ('ML', 'gms'), and missing font declarations. Manual inspection audits &lt;0.01% of packages.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51960"/>
            <a:ext cx="3291840" cy="12344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💡 Nirikshak Solution:</a:t>
            </a:r>
          </a:p>
          <a:p>
            <a:pPr>
              <a:defRPr sz="850">
                <a:solidFill>
                  <a:srgbClr val="0F172A"/>
                </a:solidFill>
                <a:latin typeface="Arial"/>
              </a:defRPr>
            </a:pPr>
            <a:r>
              <a:t>AI-powered camera inspection cuts audit time to &lt;30s with sub-0.10mm optical metrology, deterministic Gazette Table-I AST validation, and court-admissible Form-1 notices.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577840"/>
            <a:ext cx="3291840" cy="6400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🌐 Live Prototype: sih26034.vercel.app</a:t>
            </a:r>
          </a:p>
          <a:p>
            <a:pPr>
              <a:defRPr sz="750">
                <a:solidFill>
                  <a:srgbClr val="334155"/>
                </a:solidFill>
                <a:latin typeface="Arial"/>
              </a:defRPr>
            </a:pPr>
            <a:r>
              <a:t>Deployed Sub-90ms Edge CDN • 7 Golden Demo SKUs • Officer Override 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31920" y="1234440"/>
            <a:ext cx="393192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800" b="1">
                <a:solidFill>
                  <a:srgbClr val="2563EB"/>
                </a:solidFill>
                <a:latin typeface="Arial"/>
              </a:defRPr>
            </a:pPr>
            <a:r>
              <a:t>TIER 1: CORE INNOVATION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Calibrated Planar Metrology &amp; AST Legal Engine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Sub-0.10mm Homography + 100% Deterministic Gazette Rule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2112264"/>
            <a:ext cx="3931920" cy="804672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800" b="1">
                <a:solidFill>
                  <a:srgbClr val="0EA5E9"/>
                </a:solidFill>
                <a:latin typeface="Arial"/>
              </a:defRPr>
            </a:pPr>
            <a:r>
              <a:t>TIER 2: PRIMARY SENSING FUNCTIONS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Multi-Facet Cross-Panel Fusion &amp; Quality Gate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Laplacian Blur Filter + DBNet++ ONNX + Multilingual Text Perception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2990088"/>
            <a:ext cx="3931920" cy="804672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TIER 3: STATUTORY EVIDENTIARY ASSURANCE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Section 63 BSA 2023 Merkle Ledger &amp; Form-1 Notice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Monotonic UTC Clock + SHA-256 Hash Chaining + Court-Admissible PDF/A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3867912"/>
            <a:ext cx="3931920" cy="804672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800" b="1">
                <a:solidFill>
                  <a:srgbClr val="D97706"/>
                </a:solidFill>
                <a:latin typeface="Arial"/>
              </a:defRPr>
            </a:pPr>
            <a:r>
              <a:t>TIER 4: RESILIENT DUAL-MODE INFRASTRUCTURE</a:t>
            </a:r>
          </a:p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Mode A (Online Cloud) + Mode B (Offline Air-Gapped SQLite)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Runs on Commodity Laptops/Phones with Zero External Cloud GPU API Cost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4800600"/>
            <a:ext cx="3931920" cy="14173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950" b="1">
                <a:solidFill>
                  <a:srgbClr val="0EA5E9"/>
                </a:solidFill>
                <a:latin typeface="Arial"/>
              </a:defRPr>
            </a:pPr>
            <a:r>
              <a:t>⚡ RESILIENT DUAL-MODE OPERATIONAL TOPOLOGY</a:t>
            </a:r>
          </a:p>
          <a:p>
            <a:r>
              <a:rPr sz="780" b="1">
                <a:solidFill>
                  <a:srgbClr val="FFFFFF"/>
                </a:solidFill>
                <a:latin typeface="Arial"/>
              </a:rPr>
              <a:t>• Mode A (Central Cloud): </a:t>
            </a:r>
            <a:r>
              <a:rPr sz="730">
                <a:solidFill>
                  <a:srgbClr val="CBD5E1"/>
                </a:solidFill>
              </a:rPr>
              <a:t>District HQ live sync, PostgreSQL, real-time national telemetry.</a:t>
            </a:r>
          </a:p>
          <a:p>
            <a:r>
              <a:rPr sz="780" b="1">
                <a:solidFill>
                  <a:srgbClr val="FFFFFF"/>
                </a:solidFill>
                <a:latin typeface="Arial"/>
              </a:rPr>
              <a:t>• Mode B (Offline Air-Gapped): </a:t>
            </a:r>
            <a:r>
              <a:rPr sz="730">
                <a:solidFill>
                  <a:srgbClr val="CBD5E1"/>
                </a:solidFill>
              </a:rPr>
              <a:t>Remote rural mandis, 100% local SQLite, zero internet dependence.</a:t>
            </a:r>
          </a:p>
          <a:p>
            <a:r>
              <a:rPr sz="780" b="1">
                <a:solidFill>
                  <a:srgbClr val="FFFFFF"/>
                </a:solidFill>
                <a:latin typeface="Arial"/>
              </a:rPr>
              <a:t>• Zero Cloud GPU Cost: </a:t>
            </a:r>
            <a:r>
              <a:rPr sz="730">
                <a:solidFill>
                  <a:srgbClr val="CBD5E1"/>
                </a:solidFill>
              </a:rPr>
              <a:t>Runs INT8 ONNX models entirely on inspector CPU (₹0 API bills).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234440"/>
            <a:ext cx="1554480" cy="29260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⚠️ Manual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1234440"/>
            <a:ext cx="4114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900" b="1">
                <a:solidFill>
                  <a:srgbClr val="334155"/>
                </a:solidFill>
                <a:latin typeface="Arial"/>
              </a:defRPr>
            </a:pPr>
            <a:r>
              <a:t>VS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1234440"/>
            <a:ext cx="155448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850" b="1">
                <a:solidFill>
                  <a:srgbClr val="10B981"/>
                </a:solidFill>
                <a:latin typeface="Arial"/>
              </a:defRPr>
            </a:pPr>
            <a:r>
              <a:t>✅ Nirikshak Solution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581912"/>
            <a:ext cx="1645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680">
                <a:solidFill>
                  <a:srgbClr val="0F172A"/>
                </a:solidFill>
                <a:latin typeface="Arial"/>
              </a:defRPr>
            </a:pPr>
            <a:r>
              <a:t>Endless Delay: 8-10 min manual vernier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1581912"/>
            <a:ext cx="2743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>
                <a:solidFill>
                  <a:srgbClr val="2563EB"/>
                </a:solidFill>
              </a:defRPr>
            </a:pPr>
            <a:r>
              <a:t>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1581912"/>
            <a:ext cx="1645920" cy="34747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680" b="1">
                <a:solidFill>
                  <a:srgbClr val="0F172A"/>
                </a:solidFill>
                <a:latin typeface="Arial"/>
              </a:defRPr>
            </a:pPr>
            <a:r>
              <a:t>30s Calibrated Camera Audit: Instant to docket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1984248"/>
            <a:ext cx="1645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680">
                <a:solidFill>
                  <a:srgbClr val="0F172A"/>
                </a:solidFill>
                <a:latin typeface="Arial"/>
              </a:defRPr>
            </a:pPr>
            <a:r>
              <a:t>AI Hallucinations: Generic LLMs misread law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1984248"/>
            <a:ext cx="2743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>
                <a:solidFill>
                  <a:srgbClr val="2563EB"/>
                </a:solidFill>
              </a:defRPr>
            </a:pPr>
            <a:r>
              <a:t>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1984248"/>
            <a:ext cx="1645920" cy="34747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680" b="1">
                <a:solidFill>
                  <a:srgbClr val="0F172A"/>
                </a:solidFill>
                <a:latin typeface="Arial"/>
              </a:defRPr>
            </a:pPr>
            <a:r>
              <a:t>100% Deterministic AST: Gazette Table-I math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2386584"/>
            <a:ext cx="1645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680">
                <a:solidFill>
                  <a:srgbClr val="0F172A"/>
                </a:solidFill>
                <a:latin typeface="Arial"/>
              </a:defRPr>
            </a:pPr>
            <a:r>
              <a:t>Courtroom Dismissals: Broken photo 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2386584"/>
            <a:ext cx="2743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>
                <a:solidFill>
                  <a:srgbClr val="2563EB"/>
                </a:solidFill>
              </a:defRPr>
            </a:pPr>
            <a:r>
              <a:t>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2386584"/>
            <a:ext cx="1645920" cy="34747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680" b="1">
                <a:solidFill>
                  <a:srgbClr val="0F172A"/>
                </a:solidFill>
                <a:latin typeface="Arial"/>
              </a:defRPr>
            </a:pPr>
            <a:r>
              <a:t>Sec 63 BSA 2023: Tamper-proof Merkle hash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2788920"/>
            <a:ext cx="16459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680">
                <a:solidFill>
                  <a:srgbClr val="0F172A"/>
                </a:solidFill>
                <a:latin typeface="Arial"/>
              </a:defRPr>
            </a:pPr>
            <a:r>
              <a:t>Rural Outages: Inspection stops offline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2788920"/>
            <a:ext cx="2743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50">
                <a:solidFill>
                  <a:srgbClr val="2563EB"/>
                </a:solidFill>
              </a:defRPr>
            </a:pPr>
            <a:r>
              <a:t>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12680" y="2788920"/>
            <a:ext cx="1645920" cy="34747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/>
          <a:lstStyle/>
          <a:p>
            <a:pPr algn="ctr">
              <a:defRPr sz="680" b="1">
                <a:solidFill>
                  <a:srgbClr val="0F172A"/>
                </a:solidFill>
                <a:latin typeface="Arial"/>
              </a:defRPr>
            </a:pPr>
            <a:r>
              <a:t>Mode B Edge CPU: Air-gapped local SQLite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246120"/>
            <a:ext cx="3611880" cy="129844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🔍 REAL-WORLD CONTESTED CASE EVIDENCE</a:t>
            </a:r>
          </a:p>
          <a:p>
            <a:r>
              <a:rPr sz="730" b="1">
                <a:solidFill>
                  <a:srgbClr val="0F172A"/>
                </a:solidFill>
                <a:latin typeface="Arial"/>
              </a:rPr>
              <a:t>• SKU Tested: </a:t>
            </a:r>
            <a:r>
              <a:rPr sz="700">
                <a:solidFill>
                  <a:srgbClr val="334155"/>
                </a:solidFill>
              </a:rPr>
              <a:t>Himalaya Brahmi (128 cm² PDP area)</a:t>
            </a:r>
          </a:p>
          <a:p>
            <a:r>
              <a:rPr sz="730" b="1">
                <a:solidFill>
                  <a:srgbClr val="0F172A"/>
                </a:solidFill>
                <a:latin typeface="Arial"/>
              </a:rPr>
              <a:t>• Statutory Gazette Mandate: </a:t>
            </a:r>
            <a:r>
              <a:rPr sz="700">
                <a:solidFill>
                  <a:srgbClr val="334155"/>
                </a:solidFill>
              </a:rPr>
              <a:t>LMPC Rule 6, Table-I requires Min 2.00 mm font</a:t>
            </a:r>
          </a:p>
          <a:p>
            <a:r>
              <a:rPr sz="730" b="1">
                <a:solidFill>
                  <a:srgbClr val="0F172A"/>
                </a:solidFill>
                <a:latin typeface="Arial"/>
              </a:rPr>
              <a:t>• NIRIKSHAK Calibrated CCA: </a:t>
            </a:r>
            <a:r>
              <a:rPr sz="700">
                <a:solidFill>
                  <a:srgbClr val="334155"/>
                </a:solidFill>
              </a:rPr>
              <a:t>1.46 mm measured (±0.08mm caliper parity)</a:t>
            </a:r>
          </a:p>
          <a:p>
            <a:r>
              <a:rPr sz="730" b="1">
                <a:solidFill>
                  <a:srgbClr val="0F172A"/>
                </a:solidFill>
                <a:latin typeface="Arial"/>
              </a:rPr>
              <a:t>• Deficit &amp; Violation: </a:t>
            </a:r>
            <a:r>
              <a:rPr sz="700">
                <a:solidFill>
                  <a:srgbClr val="334155"/>
                </a:solidFill>
              </a:rPr>
              <a:t>-0.54 mm statutory deficit (27% undersized) ➔ Sec 36 Notice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617720"/>
            <a:ext cx="3611880" cy="16002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sz="950" b="1">
                <a:solidFill>
                  <a:srgbClr val="10B981"/>
                </a:solidFill>
                <a:latin typeface="Arial"/>
              </a:defRPr>
            </a:pPr>
            <a:r>
              <a:t>📦 ZERO SIMULATION: REAL RETAIL SKU PROOF</a:t>
            </a:r>
          </a:p>
          <a:p>
            <a:r>
              <a:rPr sz="780" b="1">
                <a:solidFill>
                  <a:srgbClr val="0F172A"/>
                </a:solidFill>
                <a:latin typeface="Arial"/>
              </a:rPr>
              <a:t>• Titan Karishma Watch: </a:t>
            </a:r>
            <a:r>
              <a:rPr sz="730">
                <a:solidFill>
                  <a:srgbClr val="334155"/>
                </a:solidFill>
              </a:rPr>
              <a:t>PASS (All 7 declarations verified, 1.25mm font)</a:t>
            </a:r>
          </a:p>
          <a:p>
            <a:r>
              <a:rPr sz="780" b="1">
                <a:solidFill>
                  <a:srgbClr val="0F172A"/>
                </a:solidFill>
                <a:latin typeface="Arial"/>
              </a:rPr>
              <a:t>• Himalaya Brahmi Box: </a:t>
            </a:r>
            <a:r>
              <a:rPr sz="730">
                <a:solidFill>
                  <a:srgbClr val="334155"/>
                </a:solidFill>
              </a:rPr>
              <a:t>FAIL (Font height 1.46mm vs 2.00mm reqd)</a:t>
            </a:r>
          </a:p>
          <a:p>
            <a:r>
              <a:rPr sz="780" b="1">
                <a:solidFill>
                  <a:srgbClr val="0F172A"/>
                </a:solidFill>
                <a:latin typeface="Arial"/>
              </a:rPr>
              <a:t>• Boult Audio Earbuds: </a:t>
            </a:r>
            <a:r>
              <a:rPr sz="730">
                <a:solidFill>
                  <a:srgbClr val="334155"/>
                </a:solidFill>
              </a:rPr>
              <a:t>FAIL (Font height 1.58mm vs 2.00mm reqd)</a:t>
            </a:r>
          </a:p>
          <a:p>
            <a:r>
              <a:rPr sz="780" b="1">
                <a:solidFill>
                  <a:srgbClr val="0F172A"/>
                </a:solidFill>
                <a:latin typeface="Arial"/>
              </a:rPr>
              <a:t>• Gopi Baba Hair Oil: </a:t>
            </a:r>
            <a:r>
              <a:rPr sz="730">
                <a:solidFill>
                  <a:srgbClr val="334155"/>
                </a:solidFill>
              </a:rPr>
              <a:t>FAIL (Prohibited unit 'ML' + missing PIN code)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320040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NIRIKSHAK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256032"/>
            <a:ext cx="84124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TECHNICAL APPROACH &amp; SYSTEM ARCHITECTURE</a:t>
            </a:r>
          </a:p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“AI Observes, Deterministic Rules Verify, and the Human Officer Decides”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23444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METHODOLOGY &amp; PIPELINE 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627632"/>
            <a:ext cx="3474720" cy="56692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072" y="1728216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664208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Forensic Ingestion &amp; Hashing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SHA-256 byte stream lock &amp; UTC monotonic clock timestamping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240280"/>
            <a:ext cx="3474720" cy="566928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" y="2340864"/>
            <a:ext cx="365760" cy="3657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276856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Optical Quality Gate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Laplacian blur screening (σ² ≥ 150) &amp; specular glare filter (≤ 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852928"/>
            <a:ext cx="3474720" cy="566928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072" y="2953512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889504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Planar Homography &amp; Calibration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ArUco / ISO-7810 card resolves 3×3 homography &amp; px_to_mm factor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465576"/>
            <a:ext cx="3474720" cy="566928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6072" y="3566160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502152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Multilingual Neural OCR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DBNet++ text polygon detector + PP-OCRv4 Latin &amp; Hindi recognition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078224"/>
            <a:ext cx="3474720" cy="566928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6072" y="4178808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114800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Semantic Extraction &amp; Sub-mm CCA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Extracts MRP, USP, Net Qty + numeral x-height (±0.08mm precision)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690872"/>
            <a:ext cx="3474720" cy="56692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6072" y="4791456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727448"/>
            <a:ext cx="2926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Arial"/>
              </a:defRPr>
            </a:pPr>
            <a:r>
              <a:t>Legal AST &amp; Officer Adjudication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Table-I schedule audit + Form-1 court-admissible notice generation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349240"/>
            <a:ext cx="3474720" cy="868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900" b="1">
                <a:solidFill>
                  <a:srgbClr val="2563EB"/>
                </a:solidFill>
                <a:latin typeface="Arial"/>
              </a:defRPr>
            </a:pPr>
            <a:r>
              <a:t>📂 Open-Source Core &amp; Test Suite</a:t>
            </a:r>
          </a:p>
          <a:p>
            <a:pPr>
              <a:defRPr sz="720">
                <a:solidFill>
                  <a:srgbClr val="334155"/>
                </a:solidFill>
                <a:latin typeface="Arial"/>
              </a:defRPr>
            </a:pPr>
            <a:r>
              <a:t>• 100% Transparent Python Metrology AST Codebase</a:t>
            </a:r>
            <a:br/>
            <a:r>
              <a:t>• 4 Golden Real-Package Calibration Benchmark Suites</a:t>
            </a:r>
            <a:br/>
            <a:r>
              <a:t>• Section 63 BSA 2023 Merkle DAG Ledger Implementation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60520" y="1234440"/>
            <a:ext cx="3749039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1000" b="1">
                <a:solidFill>
                  <a:srgbClr val="0EA5E9"/>
                </a:solidFill>
                <a:latin typeface="Arial"/>
              </a:defRPr>
            </a:pPr>
            <a:r>
              <a:t>OPERATIONAL SYSTEM ARCHITECTURE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1627632"/>
            <a:ext cx="3749039" cy="70408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780" b="1">
                <a:solidFill>
                  <a:srgbClr val="2563EB"/>
                </a:solidFill>
                <a:latin typeface="Arial"/>
              </a:defRPr>
            </a:pPr>
            <a:r>
              <a:t>LAYER 1: FORENSIC INGESTION &amp; BYTE LOCK </a:t>
            </a:r>
            <a:r>
              <a:rPr sz="720" b="1">
                <a:solidFill>
                  <a:srgbClr val="0F172A"/>
                </a:solidFill>
                <a:latin typeface="Arial"/>
              </a:rPr>
              <a:t>[SHA-256 Byte Digest]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Captures 12MP+ raw frame, locks SHA-256 byte digest, records monotonic UTC clock &amp; telemetry.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60520" y="2386584"/>
            <a:ext cx="3749039" cy="704088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780" b="1">
                <a:solidFill>
                  <a:srgbClr val="0EA5E9"/>
                </a:solidFill>
                <a:latin typeface="Arial"/>
              </a:defRPr>
            </a:pPr>
            <a:r>
              <a:t>LAYER 2: OPTICAL QUALITY GATE &amp; HOMOGRAPHY </a:t>
            </a:r>
            <a:r>
              <a:rPr sz="720" b="1">
                <a:solidFill>
                  <a:srgbClr val="0F172A"/>
                </a:solidFill>
                <a:latin typeface="Arial"/>
              </a:rPr>
              <a:t>[3x3 Homography H]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Laplacian blur filter (σ² ≥ 150). ArUco/ISO card un-tilts surface up to 35°, resolving metric scale factor.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0520" y="3145536"/>
            <a:ext cx="3749039" cy="704088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780" b="1">
                <a:solidFill>
                  <a:srgbClr val="D97706"/>
                </a:solidFill>
                <a:latin typeface="Arial"/>
              </a:defRPr>
            </a:pPr>
            <a:r>
              <a:t>LAYER 3: MULTILINGUAL NEURAL PERCEPTION </a:t>
            </a:r>
            <a:r>
              <a:rPr sz="720" b="1">
                <a:solidFill>
                  <a:srgbClr val="0F172A"/>
                </a:solidFill>
                <a:latin typeface="Arial"/>
              </a:rPr>
              <a:t>[DBNet++ &amp; PP-OCRv4]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DBNet++ detects oriented text bounding polygons. INT8 quantized PP-OCRv4 reads Hindi &amp; English.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3904488"/>
            <a:ext cx="3749039" cy="704088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780" b="1">
                <a:solidFill>
                  <a:srgbClr val="8B5CF6"/>
                </a:solidFill>
                <a:latin typeface="Arial"/>
              </a:defRPr>
            </a:pPr>
            <a:r>
              <a:t>LAYER 4: STATUTORY RULE AST &amp; SUB-MM CCA </a:t>
            </a:r>
            <a:r>
              <a:rPr sz="720" b="1">
                <a:solidFill>
                  <a:srgbClr val="0F172A"/>
                </a:solidFill>
                <a:latin typeface="Arial"/>
              </a:rPr>
              <a:t>[Table-I Gazette AST]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Connected Components Analysis measures numeral height (±0.08mm). AST engine evaluates Table-I schedules.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4663440"/>
            <a:ext cx="3749039" cy="704088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780" b="1">
                <a:solidFill>
                  <a:srgbClr val="10B981"/>
                </a:solidFill>
                <a:latin typeface="Arial"/>
              </a:defRPr>
            </a:pPr>
            <a:r>
              <a:t>LAYER 5: HUMAN LOUPE SIGNOFF &amp; FORM-1 </a:t>
            </a:r>
            <a:r>
              <a:rPr sz="720" b="1">
                <a:solidFill>
                  <a:srgbClr val="0F172A"/>
                </a:solidFill>
                <a:latin typeface="Arial"/>
              </a:rPr>
              <a:t>[Sec 63 BSA 2023]</a:t>
            </a:r>
          </a:p>
          <a:p>
            <a:pPr>
              <a:defRPr sz="700">
                <a:solidFill>
                  <a:srgbClr val="334155"/>
                </a:solidFill>
                <a:latin typeface="Arial"/>
              </a:defRPr>
            </a:pPr>
            <a:r>
              <a:t>Officer reviews borderline findings on interactive loupe. 1-click generates court-admissible Form-1 notice.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5468112"/>
            <a:ext cx="3749039" cy="74980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0EA5E9"/>
                </a:solidFill>
                <a:latin typeface="Arial"/>
              </a:defRPr>
            </a:pPr>
            <a:r>
              <a:t>⚡ RUNTIME LATENCY &amp; DETERMINISM TELEMETRY</a:t>
            </a:r>
          </a:p>
          <a:p>
            <a:pPr>
              <a:defRPr sz="730">
                <a:solidFill>
                  <a:srgbClr val="E2E8F0"/>
                </a:solidFill>
                <a:latin typeface="Arial"/>
              </a:defRPr>
            </a:pPr>
            <a:r>
              <a:t>• Local CPU Inference: 2.1s per SKU  |  Peak Memory: 320 MB  |  Cloud GPU: ₹0</a:t>
            </a:r>
            <a:br/>
            <a:r>
              <a:t>• 4-State Epistemic Triage: Compliant, Non-Compliant, Borderline, Unreadable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1234440"/>
            <a:ext cx="3657600" cy="1755648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🎯 OPTICAL METROLOGY &amp; HOMOGRAPHY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• Planar Homography (H): </a:t>
            </a:r>
            <a:r>
              <a:rPr sz="730">
                <a:solidFill>
                  <a:srgbClr val="334155"/>
                </a:solidFill>
              </a:rPr>
              <a:t>Solves s·x' = H·x using ArUco/ISO card, un-tilting perspective up to 35°.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• Sub-Millimeter Parity: </a:t>
            </a:r>
            <a:r>
              <a:rPr sz="730">
                <a:solidFill>
                  <a:srgbClr val="334155"/>
                </a:solidFill>
              </a:rPr>
              <a:t>CCA measures numeral x-height with ±0.08mm physical caliper precision.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• Pinhole Correction: </a:t>
            </a:r>
            <a:r>
              <a:rPr sz="730">
                <a:solidFill>
                  <a:srgbClr val="334155"/>
                </a:solidFill>
              </a:rPr>
              <a:t>M = D_cam / (D_cam - Δz) eliminates perspective magnification error.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3063240"/>
            <a:ext cx="365760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4864"/>
          <a:lstStyle/>
          <a:p>
            <a:pPr algn="ctr">
              <a:defRPr sz="950" b="1">
                <a:solidFill>
                  <a:srgbClr val="0EA5E9"/>
                </a:solidFill>
                <a:latin typeface="Arial"/>
              </a:defRPr>
            </a:pPr>
            <a:r>
              <a:t>🛠️ TECHNOLOGIES USED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3474720"/>
            <a:ext cx="3657600" cy="62179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Frontend UI/UX</a:t>
            </a:r>
          </a:p>
          <a:p>
            <a:pPr>
              <a:defRPr sz="730">
                <a:solidFill>
                  <a:srgbClr val="0F172A"/>
                </a:solidFill>
                <a:latin typeface="Arial"/>
              </a:defRPr>
            </a:pPr>
            <a:r>
              <a:t>React 18, Vite, TypeScript, TailwindCSS, HTML5 Canvas Loupe HUD, PWA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4169664"/>
            <a:ext cx="3657600" cy="621792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10B981"/>
                </a:solidFill>
                <a:latin typeface="Arial"/>
              </a:defRPr>
            </a:pPr>
            <a:r>
              <a:t>Backend &amp; APIs</a:t>
            </a:r>
          </a:p>
          <a:p>
            <a:pPr>
              <a:defRPr sz="730">
                <a:solidFill>
                  <a:srgbClr val="0F172A"/>
                </a:solidFill>
                <a:latin typeface="Arial"/>
              </a:defRPr>
            </a:pPr>
            <a:r>
              <a:t>FastAPI REST, Python 3.11, SQLite (Mode B), PostgreSQL (Mode A), OCI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4864608"/>
            <a:ext cx="3657600" cy="621792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Computer Vision &amp; AI</a:t>
            </a:r>
          </a:p>
          <a:p>
            <a:pPr>
              <a:defRPr sz="730">
                <a:solidFill>
                  <a:srgbClr val="0F172A"/>
                </a:solidFill>
                <a:latin typeface="Arial"/>
              </a:defRPr>
            </a:pPr>
            <a:r>
              <a:t>OpenCV 4.10, DBNet++ ONNX INT8, PP-OCRv4 Multilingual, Homography 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5559552"/>
            <a:ext cx="3657600" cy="621792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850" b="1">
                <a:solidFill>
                  <a:srgbClr val="DC2626"/>
                </a:solidFill>
                <a:latin typeface="Arial"/>
              </a:defRPr>
            </a:pPr>
            <a:r>
              <a:t>Security &amp; Forensics</a:t>
            </a:r>
          </a:p>
          <a:p>
            <a:pPr>
              <a:defRPr sz="730">
                <a:solidFill>
                  <a:srgbClr val="0F172A"/>
                </a:solidFill>
                <a:latin typeface="Arial"/>
              </a:defRPr>
            </a:pPr>
            <a:r>
              <a:t>SHA-256 Merkle DAG root, Sec 63 BSA 2023 Certs, ReportLab PDF/A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320040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NIRIKSHAK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256032"/>
            <a:ext cx="84124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FEASIBILITY AND VIABILITY: ARCHITECTURE &amp; DEPLOYMENT</a:t>
            </a:r>
          </a:p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100% Practical to Implement · Legally Defensible in District Courts · Zero Recurring Cloud GPU 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234440"/>
            <a:ext cx="3520440" cy="3474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⚙️ FEASIBILITY ANALYSIS</a:t>
            </a:r>
          </a:p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PRACTICAL TO IMPLEMENT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
• Zero Dedicated Hardware: </a:t>
            </a:r>
            <a:r>
              <a:rPr sz="800" b="0">
                <a:solidFill>
                  <a:srgbClr val="334155"/>
                </a:solidFill>
                <a:latin typeface="Arial"/>
              </a:rPr>
              <a:t>Runs on inspectors' existing smartphones (12MP+) &amp; standard ISO cards (PAN/Aadhaar) as fiducial scale.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
• 100% CPU Lightweight: </a:t>
            </a:r>
            <a:r>
              <a:rPr sz="800" b="0">
                <a:solidFill>
                  <a:srgbClr val="334155"/>
                </a:solidFill>
                <a:latin typeface="Arial"/>
              </a:rPr>
              <a:t>INT8 quantized ONNX models execute in &lt;2.1s on standard consumer CPUs (Zero GPU required).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
• Dual Operational Topology: </a:t>
            </a:r>
            <a:r>
              <a:rPr sz="800" b="0">
                <a:solidFill>
                  <a:srgbClr val="334155"/>
                </a:solidFill>
                <a:latin typeface="Arial"/>
              </a:rPr>
              <a:t>Mode A (Central Cloud with PostgreSQL) for District HQs + Mode B (100% Offline SQLite) for rural mandis.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
• Government System Ready: </a:t>
            </a:r>
            <a:r>
              <a:rPr sz="800" b="0">
                <a:solidFill>
                  <a:srgbClr val="334155"/>
                </a:solidFill>
                <a:latin typeface="Arial"/>
              </a:rPr>
              <a:t>Native standardized JSON schema ready for 1-click integration with DoCA eMaap portal &amp; NCH.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234440"/>
            <a:ext cx="3520440" cy="34747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⚙️ VIABILITY &amp; LEGAL STANDING</a:t>
            </a:r>
          </a:p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PROVEN, RELIABLE &amp; COURT-READY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
• Zero AI Hallucinations: </a:t>
            </a:r>
            <a:r>
              <a:rPr sz="800" b="0">
                <a:solidFill>
                  <a:srgbClr val="334155"/>
                </a:solidFill>
                <a:latin typeface="Arial"/>
              </a:rPr>
              <a:t>Mathematical AST parser strictly evaluates Gazette rules; AI is strictly restricted to character reading.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
• Section 63 BSA 2023 Compliant: </a:t>
            </a:r>
            <a:r>
              <a:rPr sz="800" b="0">
                <a:solidFill>
                  <a:srgbClr val="334155"/>
                </a:solidFill>
                <a:latin typeface="Arial"/>
              </a:rPr>
              <a:t>Monotonic UTC clock timestamps &amp; SHA-256 Merkle root prevent evidence tampering in District Courts.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
• Quasi-Judicial Sovereignty: </a:t>
            </a:r>
            <a:r>
              <a:rPr sz="800" b="0">
                <a:solidFill>
                  <a:srgbClr val="334155"/>
                </a:solidFill>
                <a:latin typeface="Arial"/>
              </a:rPr>
              <a:t>Preserves Natural Justice; system assists, but LMO retains absolute legal discretion with mandatory audit logs.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
• Empirical Ground Truth: </a:t>
            </a:r>
            <a:r>
              <a:rPr sz="800" b="0">
                <a:solidFill>
                  <a:srgbClr val="334155"/>
                </a:solidFill>
                <a:latin typeface="Arial"/>
              </a:rPr>
              <a:t>Validated on 4 authentic retail packages (Titan, Himalaya, Boult, Gopi Baba) matching digital calipers (±0.08mm).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1234440"/>
            <a:ext cx="3520440" cy="34747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>
              <a:defRPr sz="1100" b="1">
                <a:solidFill>
                  <a:srgbClr val="D97706"/>
                </a:solidFill>
                <a:latin typeface="Arial"/>
              </a:defRPr>
            </a:pPr>
            <a:r>
              <a:t>⚙️ BUSINESS &amp; ECONOMIC POTENTIAL</a:t>
            </a:r>
          </a:p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SUSTAINABLE &amp; HIGH ROI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
• Zero Cloud Recurring Cost: </a:t>
            </a:r>
            <a:r>
              <a:rPr sz="800" b="0">
                <a:solidFill>
                  <a:srgbClr val="334155"/>
                </a:solidFill>
                <a:latin typeface="Arial"/>
              </a:rPr>
              <a:t>100% local ONNX execution eliminates recurring per-token commercial LLM API bills (₹0 monthly API expense).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
• ₹1,800+ Cr Revenue Recovery: </a:t>
            </a:r>
            <a:r>
              <a:rPr sz="800" b="0">
                <a:solidFill>
                  <a:srgbClr val="334155"/>
                </a:solidFill>
                <a:latin typeface="Arial"/>
              </a:rPr>
              <a:t>Plugs massive state revenue leakage from deceptive packaging, short-weight units, and illegal notations.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
• Manufacturer Pre-Audit Portal: </a:t>
            </a:r>
            <a:r>
              <a:rPr sz="800" b="0">
                <a:solidFill>
                  <a:srgbClr val="334155"/>
                </a:solidFill>
                <a:latin typeface="Arial"/>
              </a:rPr>
              <a:t>Self-compliance simulator prevents costly packaging recalls and notices, boosting Ease of Doing Business.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
• Rationalized Compounding: </a:t>
            </a:r>
            <a:r>
              <a:rPr sz="800" b="0">
                <a:solidFill>
                  <a:srgbClr val="334155"/>
                </a:solidFill>
                <a:latin typeface="Arial"/>
              </a:rPr>
              <a:t>Implements Jan Vishwas Act 2023 civil compounding schedules (₹25,000 to ₹1,00,000) directly into dockets.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00600"/>
            <a:ext cx="11183112" cy="1417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846320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🚀 PAN-INDIA NATIONWIDE ROLLOUT &amp; STATUTORY INTEGRATION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66360"/>
            <a:ext cx="2633472" cy="877824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PHASE 1: DISTRICT PILOT</a:t>
            </a:r>
          </a:p>
          <a:p>
            <a:pPr>
              <a:defRPr sz="700" b="1">
                <a:solidFill>
                  <a:srgbClr val="0F172A"/>
                </a:solidFill>
                <a:latin typeface="Arial"/>
              </a:defRPr>
            </a:pPr>
            <a:r>
              <a:t>Months 0 - 3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Deploy across 50 District HQs (Maharashtra, UP, Delhi); audit 50,000 SKUs with field calibration.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83864" y="5166360"/>
            <a:ext cx="2633472" cy="877824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>
              <a:defRPr sz="850" b="1">
                <a:solidFill>
                  <a:srgbClr val="10B981"/>
                </a:solidFill>
                <a:latin typeface="Arial"/>
              </a:defRPr>
            </a:pPr>
            <a:r>
              <a:t>PHASE 2: MANDI EDGE PWA</a:t>
            </a:r>
          </a:p>
          <a:p>
            <a:pPr>
              <a:defRPr sz="700" b="1">
                <a:solidFill>
                  <a:srgbClr val="0F172A"/>
                </a:solidFill>
                <a:latin typeface="Arial"/>
              </a:defRPr>
            </a:pPr>
            <a:r>
              <a:t>Months 3 - 6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Scale to 3,000 field officers across rural APMC mandis via 100% offline Mode B SQLite PWA.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5166360"/>
            <a:ext cx="2633472" cy="877824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>
              <a:defRPr sz="850" b="1">
                <a:solidFill>
                  <a:srgbClr val="D97706"/>
                </a:solidFill>
                <a:latin typeface="Arial"/>
              </a:defRPr>
            </a:pPr>
            <a:r>
              <a:t>PHASE 3: DoCA &amp; NCH API</a:t>
            </a:r>
          </a:p>
          <a:p>
            <a:pPr>
              <a:defRPr sz="700" b="1">
                <a:solidFill>
                  <a:srgbClr val="0F172A"/>
                </a:solidFill>
                <a:latin typeface="Arial"/>
              </a:defRPr>
            </a:pPr>
            <a:r>
              <a:t>Months 6 - 9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Automate case docket sync directly into National Consumer Helpline &amp; eMaap compounding portals.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9992" y="5166360"/>
            <a:ext cx="2633472" cy="877824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>
              <a:defRPr sz="850" b="1">
                <a:solidFill>
                  <a:srgbClr val="0EA5E9"/>
                </a:solidFill>
                <a:latin typeface="Arial"/>
              </a:defRPr>
            </a:pPr>
            <a:r>
              <a:t>NATIONAL SCALE SLA</a:t>
            </a:r>
          </a:p>
          <a:p>
            <a:pPr>
              <a:defRPr sz="700" b="1">
                <a:solidFill>
                  <a:srgbClr val="0F172A"/>
                </a:solidFill>
                <a:latin typeface="Arial"/>
              </a:defRPr>
            </a:pPr>
            <a:r>
              <a:t>Operational Target</a:t>
            </a:r>
          </a:p>
          <a:p>
            <a:pPr>
              <a:defRPr sz="680">
                <a:solidFill>
                  <a:srgbClr val="334155"/>
                </a:solidFill>
                <a:latin typeface="Arial"/>
              </a:defRPr>
            </a:pPr>
            <a:r>
              <a:t>&lt;30s audit latency, 99.4% OCR precision, ₹0 recurring cloud GPU bill, 100% court admissibility.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320040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NIRIKSHAK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256032"/>
            <a:ext cx="84124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IMPACT AND BENEFITS: TRANSFORMING NATIONAL ENFORCEMENT</a:t>
            </a:r>
          </a:p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Delivering Speed, Metric Precision, and Digital Sovereignty to India's Legal Metrology Division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234440"/>
            <a:ext cx="5623560" cy="281635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298448"/>
            <a:ext cx="53492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Arial"/>
              </a:defRPr>
            </a:pPr>
            <a:r>
              <a:t>🎯 NATIONAL ENFORCEMENT IMPACT VECTORS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1645920"/>
            <a:ext cx="2633472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800" b="1">
                <a:solidFill>
                  <a:srgbClr val="2563EB"/>
                </a:solidFill>
                <a:latin typeface="Arial"/>
              </a:defRPr>
            </a:pPr>
            <a:r>
              <a:t>1. 94% Time Reduction</a:t>
            </a:r>
          </a:p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Inspection drops from 8-10m to &lt;30s per SKU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1645920"/>
            <a:ext cx="2633472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800" b="1">
                <a:solidFill>
                  <a:srgbClr val="2563EB"/>
                </a:solidFill>
                <a:latin typeface="Arial"/>
              </a:defRPr>
            </a:pPr>
            <a:r>
              <a:t>2. 13x Daily Throughput</a:t>
            </a:r>
          </a:p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Capacity surges from 15 to 200+ SKUs/officer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2212848"/>
            <a:ext cx="2633472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800" b="1">
                <a:solidFill>
                  <a:srgbClr val="2563EB"/>
                </a:solidFill>
                <a:latin typeface="Arial"/>
              </a:defRPr>
            </a:pPr>
            <a:r>
              <a:t>3. Sub-0.10mm Precision</a:t>
            </a:r>
          </a:p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Zero manual vernier caliper court disputes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212848"/>
            <a:ext cx="2633472" cy="51206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800" b="1">
                <a:solidFill>
                  <a:srgbClr val="2563EB"/>
                </a:solidFill>
                <a:latin typeface="Arial"/>
              </a:defRPr>
            </a:pPr>
            <a:r>
              <a:t>4. 100% Chain-of-Custody</a:t>
            </a:r>
          </a:p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Section 63 BSA 2023 tamper-proof Merkle DAG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2779776"/>
            <a:ext cx="2633472" cy="512064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5. Consumer Protection</a:t>
            </a:r>
          </a:p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Eliminates shrinkflation &amp; deceptive packaging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2779776"/>
            <a:ext cx="2633472" cy="512064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6. Administrative Speed</a:t>
            </a:r>
          </a:p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1-click Form-1 notice &amp; statutory certificate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3346704"/>
            <a:ext cx="2633472" cy="512064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7. Ease of Doing Business</a:t>
            </a:r>
          </a:p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Transparent pre-audit simulator for brands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3346704"/>
            <a:ext cx="2633472" cy="512064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800" b="1">
                <a:solidFill>
                  <a:srgbClr val="10B981"/>
                </a:solidFill>
                <a:latin typeface="Arial"/>
              </a:defRPr>
            </a:pPr>
            <a:r>
              <a:t>8. Digital Sovereignty</a:t>
            </a:r>
          </a:p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100% open-source, local execution, 0 data leaks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234440"/>
            <a:ext cx="5440680" cy="281635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1298448"/>
            <a:ext cx="51846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📊 NATIONAL ENFORCEMENT BENCHMARKS</a:t>
            </a:r>
          </a:p>
          <a:p>
            <a:r>
              <a:rPr sz="780" b="1">
                <a:solidFill>
                  <a:srgbClr val="F87171"/>
                </a:solidFill>
                <a:latin typeface="Arial"/>
              </a:rPr>
              <a:t>■ Manual Inspection (Red)    </a:t>
            </a:r>
            <a:r>
              <a:rPr sz="780" b="1">
                <a:solidFill>
                  <a:srgbClr val="10B981"/>
                </a:solidFill>
                <a:latin typeface="Arial"/>
              </a:rPr>
              <a:t>■ With NIRIKSHAK (Emerald)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73368" y="1810512"/>
            <a:ext cx="5221224" cy="493776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Inspection Time per Pack:   </a:t>
            </a:r>
            <a:r>
              <a:rPr sz="750" b="1">
                <a:solidFill>
                  <a:srgbClr val="0EA5E9"/>
                </a:solidFill>
                <a:latin typeface="Arial"/>
              </a:rPr>
              <a:t>[⚡ 94% Faster]</a:t>
            </a:r>
          </a:p>
          <a:p>
            <a:r>
              <a:rPr sz="720">
                <a:solidFill>
                  <a:srgbClr val="F87171"/>
                </a:solidFill>
                <a:latin typeface="Arial"/>
              </a:rPr>
              <a:t>Manual: 8.5 Mins (Manual)   ➔   </a:t>
            </a:r>
            <a:r>
              <a:rPr sz="720" b="1">
                <a:solidFill>
                  <a:srgbClr val="10B981"/>
                </a:solidFill>
                <a:latin typeface="Arial"/>
              </a:rPr>
              <a:t>NIRIKSHAK: 0.5 Min (&lt;30s Nirikshak)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73368" y="2359152"/>
            <a:ext cx="5221224" cy="493776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Daily Inspection Capacity:   </a:t>
            </a:r>
            <a:r>
              <a:rPr sz="750" b="1">
                <a:solidFill>
                  <a:srgbClr val="0EA5E9"/>
                </a:solidFill>
                <a:latin typeface="Arial"/>
              </a:rPr>
              <a:t>[🚀 13x Surge]</a:t>
            </a:r>
          </a:p>
          <a:p>
            <a:r>
              <a:rPr sz="720">
                <a:solidFill>
                  <a:srgbClr val="F87171"/>
                </a:solidFill>
                <a:latin typeface="Arial"/>
              </a:rPr>
              <a:t>Manual: 15 SKUs / day   ➔   </a:t>
            </a:r>
            <a:r>
              <a:rPr sz="720" b="1">
                <a:solidFill>
                  <a:srgbClr val="10B981"/>
                </a:solidFill>
                <a:latin typeface="Arial"/>
              </a:rPr>
              <a:t>NIRIKSHAK: 200+ SKUs / day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73368" y="2907792"/>
            <a:ext cx="5221224" cy="493776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Measurement Tolerance:   </a:t>
            </a:r>
            <a:r>
              <a:rPr sz="750" b="1">
                <a:solidFill>
                  <a:srgbClr val="0EA5E9"/>
                </a:solidFill>
                <a:latin typeface="Arial"/>
              </a:rPr>
              <a:t>[🎯 84% Error Drop]</a:t>
            </a:r>
          </a:p>
          <a:p>
            <a:r>
              <a:rPr sz="720">
                <a:solidFill>
                  <a:srgbClr val="F87171"/>
                </a:solidFill>
                <a:latin typeface="Arial"/>
              </a:rPr>
              <a:t>Manual: ±0.50 mm (Human Vernier)   ➔   </a:t>
            </a:r>
            <a:r>
              <a:rPr sz="720" b="1">
                <a:solidFill>
                  <a:srgbClr val="10B981"/>
                </a:solidFill>
                <a:latin typeface="Arial"/>
              </a:rPr>
              <a:t>NIRIKSHAK: ±0.08 mm (Optical CCA)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73368" y="3456432"/>
            <a:ext cx="5221224" cy="493776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t>Court Evidence Admissibility:   </a:t>
            </a:r>
            <a:r>
              <a:rPr sz="750" b="1">
                <a:solidFill>
                  <a:srgbClr val="0EA5E9"/>
                </a:solidFill>
                <a:latin typeface="Arial"/>
              </a:rPr>
              <a:t>[⚖️ Zero Dismissals]</a:t>
            </a:r>
          </a:p>
          <a:p>
            <a:r>
              <a:rPr sz="720">
                <a:solidFill>
                  <a:srgbClr val="F87171"/>
                </a:solidFill>
                <a:latin typeface="Arial"/>
              </a:rPr>
              <a:t>Manual: 35% (Unsigned Photos)   ➔   </a:t>
            </a:r>
            <a:r>
              <a:rPr sz="720" b="1">
                <a:solidFill>
                  <a:srgbClr val="10B981"/>
                </a:solidFill>
                <a:latin typeface="Arial"/>
              </a:rPr>
              <a:t>NIRIKSHAK: 100% (Sec 63 Merkle DAG)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160520"/>
            <a:ext cx="562356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100" b="1">
                <a:solidFill>
                  <a:srgbClr val="2563EB"/>
                </a:solidFill>
                <a:latin typeface="Arial"/>
              </a:defRPr>
            </a:pPr>
            <a:r>
              <a:t>🎯 MULTIDIMENSIONAL NATIONAL BENEFICIARIES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👤 140 Crore Indian Consumers: </a:t>
            </a:r>
            <a:r>
              <a:rPr sz="800">
                <a:solidFill>
                  <a:srgbClr val="334155"/>
                </a:solidFill>
                <a:latin typeface="Arial"/>
              </a:rPr>
              <a:t>Guarantees fair trade, eliminates stealth shrinkflation, and stops deceptive packaging and missing net quantity.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👮 3,000+ Legal Metrology Officers: </a:t>
            </a:r>
            <a:r>
              <a:rPr sz="800">
                <a:solidFill>
                  <a:srgbClr val="334155"/>
                </a:solidFill>
                <a:latin typeface="Arial"/>
              </a:rPr>
              <a:t>Empowers officers with 13x higher throughput, sub-millimeter evidence accuracy, and automated court notices.</a:t>
            </a:r>
          </a:p>
          <a:p>
            <a:r>
              <a:rPr sz="850" b="1">
                <a:solidFill>
                  <a:srgbClr val="0F172A"/>
                </a:solidFill>
                <a:latin typeface="Arial"/>
              </a:rPr>
              <a:t>🏭 100,000+ FMCG &amp; Packaged Brands: </a:t>
            </a:r>
            <a:r>
              <a:rPr sz="800">
                <a:solidFill>
                  <a:srgbClr val="334155"/>
                </a:solidFill>
                <a:latin typeface="Arial"/>
              </a:rPr>
              <a:t>Standardized, objective compliance criteria eliminate arbitrary harassment and provide pre-audit certainty.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160520"/>
            <a:ext cx="5440680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⚖️ FROM VERNIER CALIPER DISPUTES TO AI METROLOGY</a:t>
            </a:r>
          </a:p>
          <a:p>
            <a:r>
              <a:rPr sz="850" b="1">
                <a:solidFill>
                  <a:srgbClr val="FFFFFF"/>
                </a:solidFill>
                <a:latin typeface="Arial"/>
              </a:rPr>
              <a:t>• Old Manual Process: </a:t>
            </a:r>
            <a:r>
              <a:rPr sz="800">
                <a:solidFill>
                  <a:srgbClr val="CBD5E1"/>
                </a:solidFill>
              </a:rPr>
              <a:t>Magnifying glass inspection, manual vernier caliper jaw misalignment, disputed court testimony.</a:t>
            </a:r>
          </a:p>
          <a:p>
            <a:r>
              <a:rPr sz="850" b="1">
                <a:solidFill>
                  <a:srgbClr val="FFFFFF"/>
                </a:solidFill>
                <a:latin typeface="Arial"/>
              </a:rPr>
              <a:t>• NIRIKSHAK Platform: </a:t>
            </a:r>
            <a:r>
              <a:rPr sz="800">
                <a:solidFill>
                  <a:srgbClr val="CBD5E1"/>
                </a:solidFill>
              </a:rPr>
              <a:t>Homography-rectified sub-pixel analysis, automated Table-I Gazette deficit calculations, tamper-proof Merkle root.</a:t>
            </a:r>
          </a:p>
          <a:p>
            <a:r>
              <a:rPr sz="850" b="1">
                <a:solidFill>
                  <a:srgbClr val="FFFFFF"/>
                </a:solidFill>
                <a:latin typeface="Arial"/>
              </a:rPr>
              <a:t>• National Milestone: </a:t>
            </a:r>
            <a:r>
              <a:rPr sz="800">
                <a:solidFill>
                  <a:srgbClr val="CBD5E1"/>
                </a:solidFill>
              </a:rPr>
              <a:t>Eliminates 100% of subjective measurement disputes between manufacturers and inspectors in District Magistrate courts.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411480" y="320040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NIRIKSHAK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256032"/>
            <a:ext cx="84124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Arial"/>
              </a:defRPr>
            </a:pPr>
            <a:r>
              <a:t>RESEARCH, STATUTORY REFERENCES &amp; PLATFORM ARCHITECTURE</a:t>
            </a:r>
          </a:p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Grounded in Official Union Gazette Notifications, Landmark Precedents, and SOTA Computer Vision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234440"/>
            <a:ext cx="171907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Legal Metrology Act, 2009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Sec 36 (Penalties) &amp; Sec 49 (Offences by Companies)</a:t>
            </a:r>
          </a:p>
          <a:p>
            <a:pPr>
              <a:defRPr sz="650">
                <a:solidFill>
                  <a:srgbClr val="334155"/>
                </a:solidFill>
                <a:latin typeface="Arial"/>
              </a:defRPr>
            </a:pPr>
            <a:r>
              <a:t>REF: Union Ministry of Consumer Affairs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86584" y="1234440"/>
            <a:ext cx="171907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LMPC Rules, 2011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Rule 6 Mandatory Declarations &amp; Table-I Schedule</a:t>
            </a:r>
          </a:p>
          <a:p>
            <a:pPr>
              <a:defRPr sz="650">
                <a:solidFill>
                  <a:srgbClr val="334155"/>
                </a:solidFill>
                <a:latin typeface="Arial"/>
              </a:defRPr>
            </a:pPr>
            <a:r>
              <a:t>REF: G.S.R. 629(E) Font Minimums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1234440"/>
            <a:ext cx="171907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Bharatiya Sakshya 2023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Section 63 Evidentiary Standards for Electronic Records</a:t>
            </a:r>
          </a:p>
          <a:p>
            <a:pPr>
              <a:defRPr sz="650">
                <a:solidFill>
                  <a:srgbClr val="334155"/>
                </a:solidFill>
                <a:latin typeface="Arial"/>
              </a:defRPr>
            </a:pPr>
            <a:r>
              <a:t>REF: Cryptographic Hash Certificates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1234440"/>
            <a:ext cx="171907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Jan Vishwas Act, 2023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Decriminalization of packaging offences under DoCA</a:t>
            </a:r>
          </a:p>
          <a:p>
            <a:pPr>
              <a:defRPr sz="650">
                <a:solidFill>
                  <a:srgbClr val="334155"/>
                </a:solidFill>
                <a:latin typeface="Arial"/>
              </a:defRPr>
            </a:pPr>
            <a:r>
              <a:t>REF: Rationalized Civil Compounding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6" y="1234440"/>
            <a:ext cx="171907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DBNet++ &amp; PP-OCRv4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Real-time edge scene text detection &amp; recognition</a:t>
            </a:r>
          </a:p>
          <a:p>
            <a:pPr>
              <a:defRPr sz="650">
                <a:solidFill>
                  <a:srgbClr val="334155"/>
                </a:solidFill>
                <a:latin typeface="Arial"/>
              </a:defRPr>
            </a:pPr>
            <a:r>
              <a:t>REF: IEEE / CVPR Quantized Benchmarks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1234440"/>
            <a:ext cx="1719072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Planar Homography</a:t>
            </a:r>
          </a:p>
          <a:p>
            <a:pPr>
              <a:defRPr sz="750">
                <a:solidFill>
                  <a:srgbClr val="0F172A"/>
                </a:solidFill>
                <a:latin typeface="Arial"/>
              </a:defRPr>
            </a:pPr>
            <a:r>
              <a:t>Hartley &amp; Zisserman Multiple View Geometry in CV</a:t>
            </a:r>
          </a:p>
          <a:p>
            <a:pPr>
              <a:defRPr sz="650">
                <a:solidFill>
                  <a:srgbClr val="334155"/>
                </a:solidFill>
                <a:latin typeface="Arial"/>
              </a:defRPr>
            </a:pPr>
            <a:r>
              <a:t>REF: Sub-pixel ArUco Scale Metric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423160"/>
            <a:ext cx="3520440" cy="30175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🖥️ MODULE 1: EXECUTIVE CONTROL CENTRE</a:t>
            </a:r>
          </a:p>
          <a:p>
            <a:pPr>
              <a:defRPr sz="800" b="1">
                <a:solidFill>
                  <a:srgbClr val="0F172A"/>
                </a:solidFill>
                <a:latin typeface="Arial"/>
              </a:defRPr>
            </a:pPr>
            <a:r>
              <a:t>National Telemetry &amp; Triage Desk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
• Live National Telemetry: </a:t>
            </a:r>
            <a:r>
              <a:rPr sz="750">
                <a:solidFill>
                  <a:srgbClr val="334155"/>
                </a:solidFill>
                <a:latin typeface="Arial"/>
              </a:rPr>
              <a:t>Real-time tracking of 50 active packaging inspections across district circles.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
• LMO Jurisdiction Lookup: </a:t>
            </a:r>
            <a:r>
              <a:rPr sz="750">
                <a:solidFill>
                  <a:srgbClr val="334155"/>
                </a:solidFill>
                <a:latin typeface="Arial"/>
              </a:rPr>
              <a:t>Automated circle resolution (Circle 06 South Delhi, Mumbai Ward C).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
• Statutory Rules Lookup: </a:t>
            </a:r>
            <a:r>
              <a:rPr sz="750">
                <a:solidFill>
                  <a:srgbClr val="334155"/>
                </a:solidFill>
                <a:latin typeface="Arial"/>
              </a:rPr>
              <a:t>Instant search across Table-I area-to-font schedules &amp; G.S.R. amendments.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
• Epistemic Triage Queues: </a:t>
            </a:r>
            <a:r>
              <a:rPr sz="750">
                <a:solidFill>
                  <a:srgbClr val="334155"/>
                </a:solidFill>
                <a:latin typeface="Arial"/>
              </a:rPr>
              <a:t>Sorts cases into Compliant (Green), Non-Compliant (Red), and Borderline.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6" y="2423160"/>
            <a:ext cx="3520440" cy="30175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>
              <a:defRPr sz="950" b="1">
                <a:solidFill>
                  <a:srgbClr val="D97706"/>
                </a:solidFill>
                <a:latin typeface="Arial"/>
              </a:defRPr>
            </a:pPr>
            <a:r>
              <a:t>🔬 MODULE 2: FORENSIC SPLIT-CANVAS HUD</a:t>
            </a:r>
          </a:p>
          <a:p>
            <a:pPr>
              <a:defRPr sz="800" b="1">
                <a:solidFill>
                  <a:srgbClr val="0F172A"/>
                </a:solidFill>
                <a:latin typeface="Arial"/>
              </a:defRPr>
            </a:pPr>
            <a:r>
              <a:t>Sub-Millimeter Optical Adjudication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
• Metric 10mm Virtual Grid: </a:t>
            </a:r>
            <a:r>
              <a:rPr sz="750">
                <a:solidFill>
                  <a:srgbClr val="334155"/>
                </a:solidFill>
                <a:latin typeface="Arial"/>
              </a:rPr>
              <a:t>ArUco / ISO-7810 scale standard un-tilts perspective skew up to 35°.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
• Interactive 3x Loupe: </a:t>
            </a:r>
            <a:r>
              <a:rPr sz="750">
                <a:solidFill>
                  <a:srgbClr val="334155"/>
                </a:solidFill>
                <a:latin typeface="Arial"/>
              </a:rPr>
              <a:t>Dynamic zoom HUD for micro-numeral inspection on curved packaging.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
• Numeral CCA Height Engine: </a:t>
            </a:r>
            <a:r>
              <a:rPr sz="750">
                <a:solidFill>
                  <a:srgbClr val="334155"/>
                </a:solidFill>
                <a:latin typeface="Arial"/>
              </a:rPr>
              <a:t>Measures letter x-height (Sunfeast: 1.84mm measured vs 2.50mm required).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
• Quasi-Judicial Sign-off: </a:t>
            </a:r>
            <a:r>
              <a:rPr sz="750">
                <a:solidFill>
                  <a:srgbClr val="334155"/>
                </a:solidFill>
                <a:latin typeface="Arial"/>
              </a:rPr>
              <a:t>Officer retains absolute discretion to confirm, edit, or override findings.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2423160"/>
            <a:ext cx="3520440" cy="30175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>
              <a:defRPr sz="950" b="1">
                <a:solidFill>
                  <a:srgbClr val="10B981"/>
                </a:solidFill>
                <a:latin typeface="Arial"/>
              </a:defRPr>
            </a:pPr>
            <a:r>
              <a:t>📜 MODULE 3: BSA 2023 EVIDENCE DOSSIER</a:t>
            </a:r>
          </a:p>
          <a:p>
            <a:pPr>
              <a:defRPr sz="800" b="1">
                <a:solidFill>
                  <a:srgbClr val="0F172A"/>
                </a:solidFill>
                <a:latin typeface="Arial"/>
              </a:defRPr>
            </a:pPr>
            <a:r>
              <a:t>Cryptographic Court-Ready Generation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
• Immutable Byte Lock: </a:t>
            </a:r>
            <a:r>
              <a:rPr sz="750">
                <a:solidFill>
                  <a:srgbClr val="334155"/>
                </a:solidFill>
                <a:latin typeface="Arial"/>
              </a:rPr>
              <a:t>SHA-256 hash locked at ingestion, guaranteeing zero image tampering.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
• Merkle DAG Chain-of-Custody: </a:t>
            </a:r>
            <a:r>
              <a:rPr sz="750">
                <a:solidFill>
                  <a:srgbClr val="334155"/>
                </a:solidFill>
                <a:latin typeface="Arial"/>
              </a:rPr>
              <a:t>Monotonic UTC clock nodes ensure Section 63 BSA court admissibility.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
• Form-1 PDF/A Notice Export: </a:t>
            </a:r>
            <a:r>
              <a:rPr sz="750">
                <a:solidFill>
                  <a:srgbClr val="334155"/>
                </a:solidFill>
                <a:latin typeface="Arial"/>
              </a:rPr>
              <a:t>1-click generation of statutory inspection memo with Gazette citations.</a:t>
            </a:r>
          </a:p>
          <a:p>
            <a:r>
              <a:rPr sz="800" b="1">
                <a:solidFill>
                  <a:srgbClr val="0F172A"/>
                </a:solidFill>
                <a:latin typeface="Arial"/>
              </a:rPr>
              <a:t>
• Compounding Fee Calculator: </a:t>
            </a:r>
            <a:r>
              <a:rPr sz="750">
                <a:solidFill>
                  <a:srgbClr val="334155"/>
                </a:solidFill>
                <a:latin typeface="Arial"/>
              </a:rPr>
              <a:t>Automates Jan Vishwas Act 2023 civil compounding fee schedules.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59552"/>
            <a:ext cx="11183112" cy="612648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/>
            <a:r>
              <a:rPr sz="950" b="1">
                <a:solidFill>
                  <a:srgbClr val="2563EB"/>
                </a:solidFill>
                <a:latin typeface="Arial"/>
              </a:rPr>
              <a:t>🌐 LIVE EVALUATION URLS:  </a:t>
            </a:r>
            <a:r>
              <a:rPr sz="900" b="1">
                <a:solidFill>
                  <a:srgbClr val="0F172A"/>
                </a:solidFill>
                <a:latin typeface="Arial"/>
              </a:rPr>
              <a:t>Workstation: https://sih26034.vercel.app   |   API Health: https://sih26034.vercel.app/api/v1/health   |   GitHub: Open Source Repository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